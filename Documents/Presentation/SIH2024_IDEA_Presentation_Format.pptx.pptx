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8288000" cy="10287000"/>
  <p:notesSz cx="6858000" cy="9144000"/>
  <p:embeddedFontLst>
    <p:embeddedFont>
      <p:font typeface="Arial MT Pro" panose="020B0604020202020204" charset="0"/>
      <p:regular r:id="rId11"/>
    </p:embeddedFont>
    <p:embeddedFont>
      <p:font typeface="Arial MT Pro Bold" panose="020B0604020202020204" charset="0"/>
      <p:regular r:id="rId12"/>
    </p:embeddedFont>
    <p:embeddedFont>
      <p:font typeface="Arimo" panose="020B0604020202020204" charset="0"/>
      <p:regular r:id="rId13"/>
    </p:embeddedFont>
    <p:embeddedFont>
      <p:font typeface="Arimo Bold" panose="020B0604020202020204" charset="0"/>
      <p:regular r:id="rId14"/>
    </p:embeddedFont>
    <p:embeddedFont>
      <p:font typeface="Garamond Bold" panose="02020804030307010803" pitchFamily="18" charset="0"/>
      <p:regular r:id="rId15"/>
      <p:bold r:id="rId16"/>
    </p:embeddedFont>
    <p:embeddedFont>
      <p:font typeface="Times New Roman Bold" panose="02020803070505020304" pitchFamily="18" charset="0"/>
      <p:regular r:id="rId17"/>
      <p:bold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FDB9CCE-4E32-4AFB-85B5-93C8D02EDFEA}" v="2" dt="2025-09-15T07:01:02.35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6" d="100"/>
          <a:sy n="56" d="100"/>
        </p:scale>
        <p:origin x="1064" y="259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etan Khapedia" userId="e4148304108a3db4" providerId="LiveId" clId="{7577A50B-C970-491B-B67E-9133812FAD29}"/>
    <pc:docChg chg="undo custSel modSld">
      <pc:chgData name="Chetan Khapedia" userId="e4148304108a3db4" providerId="LiveId" clId="{7577A50B-C970-491B-B67E-9133812FAD29}" dt="2025-09-15T07:01:03.015" v="5" actId="20577"/>
      <pc:docMkLst>
        <pc:docMk/>
      </pc:docMkLst>
      <pc:sldChg chg="modSp mod">
        <pc:chgData name="Chetan Khapedia" userId="e4148304108a3db4" providerId="LiveId" clId="{7577A50B-C970-491B-B67E-9133812FAD29}" dt="2025-09-15T07:01:03.015" v="5" actId="20577"/>
        <pc:sldMkLst>
          <pc:docMk/>
          <pc:sldMk cId="0" sldId="258"/>
        </pc:sldMkLst>
        <pc:spChg chg="mod">
          <ac:chgData name="Chetan Khapedia" userId="e4148304108a3db4" providerId="LiveId" clId="{7577A50B-C970-491B-B67E-9133812FAD29}" dt="2025-09-15T07:01:03.015" v="5" actId="20577"/>
          <ac:spMkLst>
            <pc:docMk/>
            <pc:sldMk cId="0" sldId="258"/>
            <ac:spMk id="1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15.09.2025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jpeg"/><Relationship Id="rId5" Type="http://schemas.openxmlformats.org/officeDocument/2006/relationships/image" Target="../media/image7.png"/><Relationship Id="rId4" Type="http://schemas.openxmlformats.org/officeDocument/2006/relationships/image" Target="../media/image9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485170" y="1277282"/>
            <a:ext cx="6957907" cy="7732451"/>
          </a:xfrm>
          <a:custGeom>
            <a:avLst/>
            <a:gdLst/>
            <a:ahLst/>
            <a:cxnLst/>
            <a:rect l="l" t="t" r="r" b="b"/>
            <a:pathLst>
              <a:path w="6957907" h="7732451">
                <a:moveTo>
                  <a:pt x="0" y="0"/>
                </a:moveTo>
                <a:lnTo>
                  <a:pt x="6957907" y="0"/>
                </a:lnTo>
                <a:lnTo>
                  <a:pt x="6957907" y="7732450"/>
                </a:lnTo>
                <a:lnTo>
                  <a:pt x="0" y="77324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10282336" y="2573822"/>
            <a:ext cx="4805264" cy="5139356"/>
          </a:xfrm>
          <a:custGeom>
            <a:avLst/>
            <a:gdLst/>
            <a:ahLst/>
            <a:cxnLst/>
            <a:rect l="l" t="t" r="r" b="b"/>
            <a:pathLst>
              <a:path w="4805264" h="5139356">
                <a:moveTo>
                  <a:pt x="0" y="0"/>
                </a:moveTo>
                <a:lnTo>
                  <a:pt x="4805264" y="0"/>
                </a:lnTo>
                <a:lnTo>
                  <a:pt x="4805264" y="5139355"/>
                </a:lnTo>
                <a:lnTo>
                  <a:pt x="0" y="513935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r="-149476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TextBox 4"/>
          <p:cNvSpPr txBox="1"/>
          <p:nvPr/>
        </p:nvSpPr>
        <p:spPr>
          <a:xfrm>
            <a:off x="588369" y="290952"/>
            <a:ext cx="15361920" cy="933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sz="6000" b="1">
                <a:solidFill>
                  <a:srgbClr val="1F497D"/>
                </a:solidFill>
                <a:latin typeface="Garamond Bold"/>
                <a:ea typeface="Garamond Bold"/>
                <a:cs typeface="Garamond Bold"/>
                <a:sym typeface="Garamond Bold"/>
              </a:rPr>
              <a:t>SMART INDIA HACKATHON 2024</a:t>
            </a:r>
          </a:p>
        </p:txBody>
      </p:sp>
      <p:sp>
        <p:nvSpPr>
          <p:cNvPr id="5" name="Freeform 5"/>
          <p:cNvSpPr/>
          <p:nvPr/>
        </p:nvSpPr>
        <p:spPr>
          <a:xfrm>
            <a:off x="14705866" y="122064"/>
            <a:ext cx="3369862" cy="1723612"/>
          </a:xfrm>
          <a:custGeom>
            <a:avLst/>
            <a:gdLst/>
            <a:ahLst/>
            <a:cxnLst/>
            <a:rect l="l" t="t" r="r" b="b"/>
            <a:pathLst>
              <a:path w="3369862" h="1723612">
                <a:moveTo>
                  <a:pt x="0" y="0"/>
                </a:moveTo>
                <a:lnTo>
                  <a:pt x="3369863" y="0"/>
                </a:lnTo>
                <a:lnTo>
                  <a:pt x="3369863" y="1723613"/>
                </a:lnTo>
                <a:lnTo>
                  <a:pt x="0" y="172361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b="-46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TextBox 6"/>
          <p:cNvSpPr txBox="1"/>
          <p:nvPr/>
        </p:nvSpPr>
        <p:spPr>
          <a:xfrm>
            <a:off x="1028700" y="2488097"/>
            <a:ext cx="8769360" cy="72388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52"/>
              </a:lnSpc>
            </a:pPr>
            <a:endParaRPr dirty="0"/>
          </a:p>
          <a:p>
            <a:pPr marL="520691" lvl="1" indent="-260345" algn="just">
              <a:lnSpc>
                <a:spcPts val="6905"/>
              </a:lnSpc>
              <a:buFont typeface="Arial"/>
              <a:buChar char="•"/>
            </a:pPr>
            <a:r>
              <a:rPr lang="en-US" sz="2877" b="1" dirty="0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Problem ID - SIH -1683</a:t>
            </a:r>
          </a:p>
          <a:p>
            <a:pPr marL="513944" lvl="1" indent="-256972" algn="just">
              <a:lnSpc>
                <a:spcPts val="6815"/>
              </a:lnSpc>
              <a:buFont typeface="Arial"/>
              <a:buChar char="•"/>
            </a:pPr>
            <a:r>
              <a:rPr lang="en-US" sz="2839" b="1" dirty="0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Problem Statement Title- Development of AI/ML based solution for detection of face-swap based deep fake videos.</a:t>
            </a:r>
          </a:p>
          <a:p>
            <a:pPr marL="520691" lvl="1" indent="-260345" algn="just">
              <a:lnSpc>
                <a:spcPts val="6905"/>
              </a:lnSpc>
              <a:buFont typeface="Arial"/>
              <a:buChar char="•"/>
            </a:pPr>
            <a:r>
              <a:rPr lang="en-US" sz="2877" b="1" dirty="0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Theme- Miscellaneous</a:t>
            </a:r>
          </a:p>
          <a:p>
            <a:pPr marL="520691" lvl="1" indent="-260345" algn="just">
              <a:lnSpc>
                <a:spcPts val="6905"/>
              </a:lnSpc>
              <a:buFont typeface="Arial"/>
              <a:buChar char="•"/>
            </a:pPr>
            <a:r>
              <a:rPr lang="en-US" sz="2877" b="1" dirty="0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PS Category- Software</a:t>
            </a:r>
          </a:p>
          <a:p>
            <a:pPr marL="520691" lvl="1" indent="-260345" algn="just">
              <a:lnSpc>
                <a:spcPts val="6905"/>
              </a:lnSpc>
              <a:buFont typeface="Arial"/>
              <a:buChar char="•"/>
            </a:pPr>
            <a:r>
              <a:rPr lang="en-US" sz="2877" b="1" dirty="0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Team ID-</a:t>
            </a:r>
          </a:p>
          <a:p>
            <a:pPr marL="520691" lvl="1" indent="-260345" algn="just">
              <a:lnSpc>
                <a:spcPts val="6905"/>
              </a:lnSpc>
              <a:buFont typeface="Arial"/>
              <a:buChar char="•"/>
            </a:pPr>
            <a:r>
              <a:rPr lang="en-US" sz="2877" b="1" dirty="0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Team Name - </a:t>
            </a:r>
            <a:r>
              <a:rPr lang="en-US" sz="2877" b="1" dirty="0" err="1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AuthentiSix</a:t>
            </a:r>
            <a:endParaRPr lang="en-US" sz="2877" b="1" dirty="0">
              <a:solidFill>
                <a:srgbClr val="000000"/>
              </a:solidFill>
              <a:latin typeface="Arial MT Pro Bold"/>
              <a:ea typeface="Arial MT Pro Bold"/>
              <a:cs typeface="Arial MT Pro Bold"/>
              <a:sym typeface="Arial MT Pro 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39238" y="4991118"/>
            <a:ext cx="9525" cy="2857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  <a:spcBef>
                <a:spcPct val="0"/>
              </a:spcBef>
            </a:pPr>
            <a:endParaRPr/>
          </a:p>
        </p:txBody>
      </p:sp>
      <p:sp>
        <p:nvSpPr>
          <p:cNvPr id="3" name="TextBox 3"/>
          <p:cNvSpPr txBox="1"/>
          <p:nvPr/>
        </p:nvSpPr>
        <p:spPr>
          <a:xfrm>
            <a:off x="580127" y="971550"/>
            <a:ext cx="3160157" cy="476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799" b="1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TEAM MEMBERS:-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556608" y="1710781"/>
            <a:ext cx="16512957" cy="2638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26104" lvl="1" indent="-313052" algn="l">
              <a:lnSpc>
                <a:spcPts val="3479"/>
              </a:lnSpc>
              <a:buAutoNum type="arabicPeriod"/>
            </a:pPr>
            <a:r>
              <a:rPr lang="en-US" sz="2899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MANI CHOURASIYA (TEAM LEADER)                                     AI&amp;DS 7TH  SEMESTER </a:t>
            </a:r>
          </a:p>
          <a:p>
            <a:pPr marL="626104" lvl="1" indent="-313052" algn="l">
              <a:lnSpc>
                <a:spcPts val="3479"/>
              </a:lnSpc>
              <a:buAutoNum type="arabicPeriod"/>
            </a:pPr>
            <a:r>
              <a:rPr lang="en-US" sz="2899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YASH MALVIYA                                                                          AI&amp;DS 7TH SEMESTER </a:t>
            </a:r>
          </a:p>
          <a:p>
            <a:pPr marL="626104" lvl="1" indent="-313052" algn="l">
              <a:lnSpc>
                <a:spcPts val="3479"/>
              </a:lnSpc>
              <a:buAutoNum type="arabicPeriod"/>
            </a:pPr>
            <a:r>
              <a:rPr lang="en-US" sz="2899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LOVELY VERMA                                                                         AI&amp;DS 7TH SEMESTER </a:t>
            </a:r>
          </a:p>
          <a:p>
            <a:pPr marL="626104" lvl="1" indent="-313052" algn="l">
              <a:lnSpc>
                <a:spcPts val="3479"/>
              </a:lnSpc>
              <a:buAutoNum type="arabicPeriod"/>
            </a:pPr>
            <a:r>
              <a:rPr lang="en-US" sz="2899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AMAN SHARMA                                                                          AI&amp;DS 7TH SEMESTER </a:t>
            </a:r>
          </a:p>
          <a:p>
            <a:pPr marL="626104" lvl="1" indent="-313052" algn="l">
              <a:lnSpc>
                <a:spcPts val="3479"/>
              </a:lnSpc>
              <a:buAutoNum type="arabicPeriod"/>
            </a:pPr>
            <a:r>
              <a:rPr lang="en-US" sz="2899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SNEHA GUPTA                                                                           AI&amp;DS 7TH SEMESTER</a:t>
            </a:r>
          </a:p>
          <a:p>
            <a:pPr marL="626104" lvl="1" indent="-313052" algn="l">
              <a:lnSpc>
                <a:spcPts val="3479"/>
              </a:lnSpc>
              <a:spcBef>
                <a:spcPct val="0"/>
              </a:spcBef>
              <a:buAutoNum type="arabicPeriod"/>
            </a:pPr>
            <a:r>
              <a:rPr lang="en-US" sz="2899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CHETAN KHAPEDIA                                                                   AI&amp;DS 7TH SEMESTER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532143"/>
            <a:ext cx="18287998" cy="754857"/>
            <a:chOff x="0" y="0"/>
            <a:chExt cx="24383998" cy="100647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2391495" y="209550"/>
            <a:ext cx="12504309" cy="1219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60"/>
              </a:lnSpc>
            </a:pPr>
            <a:r>
              <a:rPr lang="en-US" sz="38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Development of AI/ML based solution for detection of face-swap based deep fake videos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846737" y="2071687"/>
            <a:ext cx="9412563" cy="4972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255"/>
              </a:lnSpc>
            </a:pPr>
            <a:r>
              <a:rPr lang="en-US" sz="2712" b="1">
                <a:solidFill>
                  <a:srgbClr val="0C66A6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Problem Resolutions:-</a:t>
            </a:r>
          </a:p>
          <a:p>
            <a:pPr algn="just">
              <a:lnSpc>
                <a:spcPts val="3255"/>
              </a:lnSpc>
            </a:pPr>
            <a:endParaRPr lang="en-US" sz="2712" b="1">
              <a:solidFill>
                <a:srgbClr val="0C66A6"/>
              </a:solidFill>
              <a:latin typeface="Arial MT Pro Bold"/>
              <a:ea typeface="Arial MT Pro Bold"/>
              <a:cs typeface="Arial MT Pro Bold"/>
              <a:sym typeface="Arial MT Pro Bold"/>
            </a:endParaRPr>
          </a:p>
          <a:p>
            <a:pPr marL="585689" lvl="1" indent="-292845" algn="just">
              <a:lnSpc>
                <a:spcPts val="3255"/>
              </a:lnSpc>
              <a:buFont typeface="Arial"/>
              <a:buChar char="•"/>
            </a:pPr>
            <a:r>
              <a:rPr lang="en-US" sz="2712" b="1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Comprehensive and Accurate:</a:t>
            </a:r>
            <a:r>
              <a:rPr lang="en-US" sz="2712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 Provides through, precise detection by analyzing videos from multiple angles.</a:t>
            </a:r>
          </a:p>
          <a:p>
            <a:pPr marL="585689" lvl="1" indent="-292845" algn="just">
              <a:lnSpc>
                <a:spcPts val="3255"/>
              </a:lnSpc>
              <a:buFont typeface="Arial"/>
              <a:buChar char="•"/>
            </a:pPr>
            <a:r>
              <a:rPr lang="en-US" sz="2712" b="1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Adaptive:</a:t>
            </a:r>
            <a:r>
              <a:rPr lang="en-US" sz="2712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 Remains effective against new deep fake methods.</a:t>
            </a:r>
          </a:p>
          <a:p>
            <a:pPr algn="just">
              <a:lnSpc>
                <a:spcPts val="3255"/>
              </a:lnSpc>
            </a:pPr>
            <a:endParaRPr lang="en-US" sz="2712">
              <a:solidFill>
                <a:srgbClr val="000000"/>
              </a:solidFill>
              <a:latin typeface="Arial MT Pro"/>
              <a:ea typeface="Arial MT Pro"/>
              <a:cs typeface="Arial MT Pro"/>
              <a:sym typeface="Arial MT Pro"/>
            </a:endParaRPr>
          </a:p>
          <a:p>
            <a:pPr algn="just">
              <a:lnSpc>
                <a:spcPts val="3255"/>
              </a:lnSpc>
            </a:pPr>
            <a:endParaRPr lang="en-US" sz="2712">
              <a:solidFill>
                <a:srgbClr val="000000"/>
              </a:solidFill>
              <a:latin typeface="Arial MT Pro"/>
              <a:ea typeface="Arial MT Pro"/>
              <a:cs typeface="Arial MT Pro"/>
              <a:sym typeface="Arial MT Pro"/>
            </a:endParaRPr>
          </a:p>
          <a:p>
            <a:pPr algn="just">
              <a:lnSpc>
                <a:spcPts val="3255"/>
              </a:lnSpc>
            </a:pPr>
            <a:endParaRPr lang="en-US" sz="2712">
              <a:solidFill>
                <a:srgbClr val="000000"/>
              </a:solidFill>
              <a:latin typeface="Arial MT Pro"/>
              <a:ea typeface="Arial MT Pro"/>
              <a:cs typeface="Arial MT Pro"/>
              <a:sym typeface="Arial MT Pro"/>
            </a:endParaRPr>
          </a:p>
          <a:p>
            <a:pPr algn="just">
              <a:lnSpc>
                <a:spcPts val="3255"/>
              </a:lnSpc>
            </a:pPr>
            <a:endParaRPr lang="en-US" sz="2712">
              <a:solidFill>
                <a:srgbClr val="000000"/>
              </a:solidFill>
              <a:latin typeface="Arial MT Pro"/>
              <a:ea typeface="Arial MT Pro"/>
              <a:cs typeface="Arial MT Pro"/>
              <a:sym typeface="Arial MT Pro"/>
            </a:endParaRPr>
          </a:p>
          <a:p>
            <a:pPr algn="just">
              <a:lnSpc>
                <a:spcPts val="3255"/>
              </a:lnSpc>
            </a:pPr>
            <a:endParaRPr lang="en-US" sz="2712">
              <a:solidFill>
                <a:srgbClr val="000000"/>
              </a:solidFill>
              <a:latin typeface="Arial MT Pro"/>
              <a:ea typeface="Arial MT Pro"/>
              <a:cs typeface="Arial MT Pro"/>
              <a:sym typeface="Arial MT Pro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14705866" y="122064"/>
            <a:ext cx="3369862" cy="1723612"/>
          </a:xfrm>
          <a:custGeom>
            <a:avLst/>
            <a:gdLst/>
            <a:ahLst/>
            <a:cxnLst/>
            <a:rect l="l" t="t" r="r" b="b"/>
            <a:pathLst>
              <a:path w="3369862" h="1723612">
                <a:moveTo>
                  <a:pt x="0" y="0"/>
                </a:moveTo>
                <a:lnTo>
                  <a:pt x="3369863" y="0"/>
                </a:lnTo>
                <a:lnTo>
                  <a:pt x="3369863" y="1723613"/>
                </a:lnTo>
                <a:lnTo>
                  <a:pt x="0" y="172361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46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Freeform 7"/>
          <p:cNvSpPr/>
          <p:nvPr/>
        </p:nvSpPr>
        <p:spPr>
          <a:xfrm>
            <a:off x="360700" y="2010022"/>
            <a:ext cx="6703040" cy="6703040"/>
          </a:xfrm>
          <a:custGeom>
            <a:avLst/>
            <a:gdLst/>
            <a:ahLst/>
            <a:cxnLst/>
            <a:rect l="l" t="t" r="r" b="b"/>
            <a:pathLst>
              <a:path w="6703040" h="6703040">
                <a:moveTo>
                  <a:pt x="0" y="0"/>
                </a:moveTo>
                <a:lnTo>
                  <a:pt x="6703040" y="0"/>
                </a:lnTo>
                <a:lnTo>
                  <a:pt x="6703040" y="6703041"/>
                </a:lnTo>
                <a:lnTo>
                  <a:pt x="0" y="67030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/>
          <p:cNvSpPr/>
          <p:nvPr/>
        </p:nvSpPr>
        <p:spPr>
          <a:xfrm>
            <a:off x="7605458" y="2010022"/>
            <a:ext cx="10075614" cy="3241641"/>
          </a:xfrm>
          <a:custGeom>
            <a:avLst/>
            <a:gdLst/>
            <a:ahLst/>
            <a:cxnLst/>
            <a:rect l="l" t="t" r="r" b="b"/>
            <a:pathLst>
              <a:path w="10075614" h="3241641">
                <a:moveTo>
                  <a:pt x="0" y="0"/>
                </a:moveTo>
                <a:lnTo>
                  <a:pt x="10075614" y="0"/>
                </a:lnTo>
                <a:lnTo>
                  <a:pt x="10075614" y="3241642"/>
                </a:lnTo>
                <a:lnTo>
                  <a:pt x="0" y="324164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17556" t="-29871" r="-4163" b="-355547"/>
            </a:stretch>
          </a:blipFill>
          <a:ln w="38100" cap="sq">
            <a:solidFill>
              <a:srgbClr val="0070C0"/>
            </a:solidFill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Box 9"/>
          <p:cNvSpPr txBox="1"/>
          <p:nvPr/>
        </p:nvSpPr>
        <p:spPr>
          <a:xfrm>
            <a:off x="7732104" y="5465080"/>
            <a:ext cx="9024499" cy="3419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72"/>
              </a:lnSpc>
            </a:pPr>
            <a:r>
              <a:rPr lang="en-US" sz="2643" b="1">
                <a:solidFill>
                  <a:srgbClr val="0C66A6"/>
                </a:solidFill>
                <a:latin typeface="Arimo Bold"/>
                <a:ea typeface="Arimo Bold"/>
                <a:cs typeface="Arimo Bold"/>
                <a:sym typeface="Arimo Bold"/>
              </a:rPr>
              <a:t>Unique Value Prepositions (UVP):-</a:t>
            </a:r>
          </a:p>
          <a:p>
            <a:pPr algn="l">
              <a:lnSpc>
                <a:spcPts val="3172"/>
              </a:lnSpc>
            </a:pPr>
            <a:endParaRPr lang="en-US" sz="2643" b="1">
              <a:solidFill>
                <a:srgbClr val="0C66A6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marL="527542" lvl="1" indent="-263771" algn="l">
              <a:lnSpc>
                <a:spcPts val="2932"/>
              </a:lnSpc>
              <a:buFont typeface="Arial"/>
              <a:buChar char="•"/>
            </a:pPr>
            <a:r>
              <a:rPr lang="en-US" sz="2443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Integrated Approach: Merges various advanced techniques and blockchain for a unique and forward-looking solution.</a:t>
            </a:r>
          </a:p>
          <a:p>
            <a:pPr marL="527542" lvl="1" indent="-263771" algn="l">
              <a:lnSpc>
                <a:spcPts val="2932"/>
              </a:lnSpc>
              <a:buFont typeface="Arial"/>
              <a:buChar char="•"/>
            </a:pPr>
            <a:r>
              <a:rPr lang="en-US" sz="2443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Future-Proof: The solution is designed to stay effective as deep fake technology evolves, making it a forward-looking tool in digital content authentication</a:t>
            </a:r>
          </a:p>
          <a:p>
            <a:pPr algn="l">
              <a:lnSpc>
                <a:spcPts val="2932"/>
              </a:lnSpc>
              <a:spcBef>
                <a:spcPct val="0"/>
              </a:spcBef>
            </a:pPr>
            <a:endParaRPr lang="en-US" sz="2443" b="1">
              <a:solidFill>
                <a:srgbClr val="000000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  <p:sp>
        <p:nvSpPr>
          <p:cNvPr id="10" name="Freeform 10"/>
          <p:cNvSpPr/>
          <p:nvPr/>
        </p:nvSpPr>
        <p:spPr>
          <a:xfrm>
            <a:off x="7605458" y="5361543"/>
            <a:ext cx="10075614" cy="3400425"/>
          </a:xfrm>
          <a:custGeom>
            <a:avLst/>
            <a:gdLst/>
            <a:ahLst/>
            <a:cxnLst/>
            <a:rect l="l" t="t" r="r" b="b"/>
            <a:pathLst>
              <a:path w="10075614" h="3400425">
                <a:moveTo>
                  <a:pt x="0" y="0"/>
                </a:moveTo>
                <a:lnTo>
                  <a:pt x="10075614" y="0"/>
                </a:lnTo>
                <a:lnTo>
                  <a:pt x="10075614" y="3400425"/>
                </a:lnTo>
                <a:lnTo>
                  <a:pt x="0" y="340042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57132" t="-235629" r="-6062" b="-4974"/>
            </a:stretch>
          </a:blipFill>
          <a:ln w="38100" cap="sq">
            <a:solidFill>
              <a:srgbClr val="0070C0"/>
            </a:solidFill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>
          <a:xfrm>
            <a:off x="0" y="670520"/>
            <a:ext cx="3141922" cy="1175156"/>
          </a:xfrm>
          <a:custGeom>
            <a:avLst/>
            <a:gdLst/>
            <a:ahLst/>
            <a:cxnLst/>
            <a:rect l="l" t="t" r="r" b="b"/>
            <a:pathLst>
              <a:path w="3141922" h="1175156">
                <a:moveTo>
                  <a:pt x="0" y="0"/>
                </a:moveTo>
                <a:lnTo>
                  <a:pt x="3141922" y="0"/>
                </a:lnTo>
                <a:lnTo>
                  <a:pt x="3141922" y="1175156"/>
                </a:lnTo>
                <a:lnTo>
                  <a:pt x="0" y="117515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3242" t="-150142" r="-13734" b="-508487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2" name="TextBox 12"/>
          <p:cNvSpPr txBox="1"/>
          <p:nvPr/>
        </p:nvSpPr>
        <p:spPr>
          <a:xfrm>
            <a:off x="13197840" y="9561200"/>
            <a:ext cx="4084320" cy="475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160"/>
              </a:lnSpc>
            </a:pPr>
            <a:r>
              <a:rPr lang="en-US" sz="1800" b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2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063740" y="9655973"/>
            <a:ext cx="4623120" cy="285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@SIH Idea submission- 2024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75610" y="2200275"/>
            <a:ext cx="6013181" cy="4752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112"/>
              </a:lnSpc>
            </a:pPr>
            <a:r>
              <a:rPr lang="en-US" sz="2593" b="1" dirty="0">
                <a:solidFill>
                  <a:srgbClr val="0C66A6"/>
                </a:solidFill>
                <a:latin typeface="Arimo Bold"/>
                <a:ea typeface="Arimo Bold"/>
                <a:cs typeface="Arimo Bold"/>
                <a:sym typeface="Arimo Bold"/>
              </a:rPr>
              <a:t>IDEA / SOLUTION:-</a:t>
            </a:r>
          </a:p>
          <a:p>
            <a:pPr algn="just">
              <a:lnSpc>
                <a:spcPts val="2872"/>
              </a:lnSpc>
            </a:pPr>
            <a:endParaRPr lang="en-US" sz="2593" b="1" dirty="0">
              <a:solidFill>
                <a:srgbClr val="0C66A6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marL="516805" lvl="1" indent="-258402" algn="just">
              <a:lnSpc>
                <a:spcPts val="2872"/>
              </a:lnSpc>
              <a:buFont typeface="Arial"/>
              <a:buChar char="•"/>
            </a:pPr>
            <a:r>
              <a:rPr lang="en-US" sz="2393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Multi-Technique Detection: Combines CNNs, RNNs, LSTMs, frequency analysis, and audio-visual checks to accurately detect deep fakes.</a:t>
            </a:r>
          </a:p>
          <a:p>
            <a:pPr marL="516805" lvl="1" indent="-258402" algn="just">
              <a:lnSpc>
                <a:spcPts val="2872"/>
              </a:lnSpc>
              <a:buFont typeface="Arial"/>
              <a:buChar char="•"/>
            </a:pPr>
            <a:r>
              <a:rPr lang="en-US" sz="2393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Adversarial Training: Uses GANs to enhance the model's ability to identify evolving deep fake techniques.</a:t>
            </a:r>
          </a:p>
          <a:p>
            <a:pPr marL="516805" lvl="1" indent="-258402" algn="just">
              <a:lnSpc>
                <a:spcPts val="2872"/>
              </a:lnSpc>
              <a:buFont typeface="Arial"/>
              <a:buChar char="•"/>
            </a:pPr>
            <a:r>
              <a:rPr lang="en-US" sz="2393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Blockchain: Ensures content authenticity and integrity.</a:t>
            </a:r>
          </a:p>
          <a:p>
            <a:pPr marL="516805" lvl="1" indent="-258402" algn="just">
              <a:lnSpc>
                <a:spcPts val="2872"/>
              </a:lnSpc>
              <a:buFont typeface="Arial"/>
              <a:buChar char="•"/>
            </a:pPr>
            <a:r>
              <a:rPr lang="en-US" sz="2393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Hybrid Model: Integrates multiple analyses for robust detection</a:t>
            </a:r>
          </a:p>
        </p:txBody>
      </p:sp>
      <p:sp>
        <p:nvSpPr>
          <p:cNvPr id="15" name="Freeform 15"/>
          <p:cNvSpPr/>
          <p:nvPr/>
        </p:nvSpPr>
        <p:spPr>
          <a:xfrm>
            <a:off x="152400" y="822920"/>
            <a:ext cx="3141922" cy="1175156"/>
          </a:xfrm>
          <a:custGeom>
            <a:avLst/>
            <a:gdLst/>
            <a:ahLst/>
            <a:cxnLst/>
            <a:rect l="l" t="t" r="r" b="b"/>
            <a:pathLst>
              <a:path w="3141922" h="1175156">
                <a:moveTo>
                  <a:pt x="0" y="0"/>
                </a:moveTo>
                <a:lnTo>
                  <a:pt x="3141922" y="0"/>
                </a:lnTo>
                <a:lnTo>
                  <a:pt x="3141922" y="1175156"/>
                </a:lnTo>
                <a:lnTo>
                  <a:pt x="0" y="117515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3242" t="-150142" r="-13734" b="-508487"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532143"/>
            <a:ext cx="18287998" cy="754857"/>
            <a:chOff x="0" y="0"/>
            <a:chExt cx="24383998" cy="100647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1005840" y="112395"/>
            <a:ext cx="16276320" cy="17278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sz="54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TECHNICAL APPROACH</a:t>
            </a:r>
          </a:p>
        </p:txBody>
      </p:sp>
      <p:sp>
        <p:nvSpPr>
          <p:cNvPr id="5" name="Freeform 5"/>
          <p:cNvSpPr/>
          <p:nvPr/>
        </p:nvSpPr>
        <p:spPr>
          <a:xfrm>
            <a:off x="14705866" y="122064"/>
            <a:ext cx="3369862" cy="1723612"/>
          </a:xfrm>
          <a:custGeom>
            <a:avLst/>
            <a:gdLst/>
            <a:ahLst/>
            <a:cxnLst/>
            <a:rect l="l" t="t" r="r" b="b"/>
            <a:pathLst>
              <a:path w="3369862" h="1723612">
                <a:moveTo>
                  <a:pt x="0" y="0"/>
                </a:moveTo>
                <a:lnTo>
                  <a:pt x="3369863" y="0"/>
                </a:lnTo>
                <a:lnTo>
                  <a:pt x="3369863" y="1723613"/>
                </a:lnTo>
                <a:lnTo>
                  <a:pt x="0" y="172361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46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Freeform 6"/>
          <p:cNvSpPr/>
          <p:nvPr/>
        </p:nvSpPr>
        <p:spPr>
          <a:xfrm>
            <a:off x="9699345" y="2694141"/>
            <a:ext cx="7582815" cy="5989538"/>
          </a:xfrm>
          <a:custGeom>
            <a:avLst/>
            <a:gdLst/>
            <a:ahLst/>
            <a:cxnLst/>
            <a:rect l="l" t="t" r="r" b="b"/>
            <a:pathLst>
              <a:path w="7582815" h="5989538">
                <a:moveTo>
                  <a:pt x="0" y="0"/>
                </a:moveTo>
                <a:lnTo>
                  <a:pt x="7582815" y="0"/>
                </a:lnTo>
                <a:lnTo>
                  <a:pt x="7582815" y="5989538"/>
                </a:lnTo>
                <a:lnTo>
                  <a:pt x="0" y="598953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TextBox 7"/>
          <p:cNvSpPr txBox="1"/>
          <p:nvPr/>
        </p:nvSpPr>
        <p:spPr>
          <a:xfrm>
            <a:off x="13197840" y="9561200"/>
            <a:ext cx="4084320" cy="475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160"/>
              </a:lnSpc>
            </a:pPr>
            <a:r>
              <a:rPr lang="en-US" sz="1800" b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3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063740" y="9655973"/>
            <a:ext cx="4623120" cy="285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@SIH Idea submission- 2024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699345" y="1826626"/>
            <a:ext cx="4965978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19"/>
              </a:lnSpc>
              <a:spcBef>
                <a:spcPct val="0"/>
              </a:spcBef>
            </a:pPr>
            <a:r>
              <a:rPr lang="en-US" sz="3099" b="1">
                <a:solidFill>
                  <a:srgbClr val="0C66A6"/>
                </a:solidFill>
                <a:latin typeface="Arimo Bold"/>
                <a:ea typeface="Arimo Bold"/>
                <a:cs typeface="Arimo Bold"/>
                <a:sym typeface="Arimo Bold"/>
              </a:rPr>
              <a:t>Process Flow Architecture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76197" y="2797229"/>
            <a:ext cx="8067803" cy="5886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Model Development-</a:t>
            </a:r>
            <a:r>
              <a:rPr lang="en-US" sz="27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Python</a:t>
            </a:r>
          </a:p>
          <a:p>
            <a:pPr algn="l">
              <a:lnSpc>
                <a:spcPts val="3359"/>
              </a:lnSpc>
            </a:pPr>
            <a:endParaRPr lang="en-US" sz="2799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algn="l">
              <a:lnSpc>
                <a:spcPts val="3359"/>
              </a:lnSpc>
            </a:pPr>
            <a:r>
              <a:rPr lang="en-US" sz="2799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Libraries Used-</a:t>
            </a:r>
          </a:p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OpenCV, TenserFlow, Librosa</a:t>
            </a:r>
          </a:p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Pandas, Numpy, Gradio</a:t>
            </a:r>
            <a:r>
              <a:rPr lang="en-US" sz="2799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.</a:t>
            </a:r>
          </a:p>
          <a:p>
            <a:pPr algn="l">
              <a:lnSpc>
                <a:spcPts val="3359"/>
              </a:lnSpc>
            </a:pPr>
            <a:endParaRPr lang="en-US" sz="2799" b="1">
              <a:solidFill>
                <a:srgbClr val="000000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algn="l">
              <a:lnSpc>
                <a:spcPts val="3359"/>
              </a:lnSpc>
            </a:pPr>
            <a:r>
              <a:rPr lang="en-US" sz="2799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Algorithms:-</a:t>
            </a:r>
            <a:r>
              <a:rPr lang="en-US" sz="27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CNN, RNN, LSTM Networks, Capsule Networks, Generative Adversarial Networks (GANs), Audio-Visual Analysis, Blockchain Technology, Frequency Domain Analysis, Biometric Verification Hybrid Models.</a:t>
            </a:r>
          </a:p>
          <a:p>
            <a:pPr algn="l">
              <a:lnSpc>
                <a:spcPts val="3359"/>
              </a:lnSpc>
            </a:pPr>
            <a:endParaRPr lang="en-US" sz="2799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algn="l">
              <a:lnSpc>
                <a:spcPts val="3359"/>
              </a:lnSpc>
            </a:pPr>
            <a:r>
              <a:rPr lang="en-US" sz="2799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Database:- MYSQL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endParaRPr lang="en-US" sz="2799" b="1">
              <a:solidFill>
                <a:srgbClr val="000000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  <p:sp>
        <p:nvSpPr>
          <p:cNvPr id="11" name="Freeform 11"/>
          <p:cNvSpPr/>
          <p:nvPr/>
        </p:nvSpPr>
        <p:spPr>
          <a:xfrm>
            <a:off x="727877" y="1998076"/>
            <a:ext cx="8647423" cy="6924600"/>
          </a:xfrm>
          <a:custGeom>
            <a:avLst/>
            <a:gdLst/>
            <a:ahLst/>
            <a:cxnLst/>
            <a:rect l="l" t="t" r="r" b="b"/>
            <a:pathLst>
              <a:path w="8647423" h="6924600">
                <a:moveTo>
                  <a:pt x="0" y="0"/>
                </a:moveTo>
                <a:lnTo>
                  <a:pt x="8647423" y="0"/>
                </a:lnTo>
                <a:lnTo>
                  <a:pt x="8647423" y="6924601"/>
                </a:lnTo>
                <a:lnTo>
                  <a:pt x="0" y="692460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42540" t="-146919" r="-63335" b="-22136"/>
            </a:stretch>
          </a:blipFill>
          <a:ln w="47625" cap="sq">
            <a:solidFill>
              <a:srgbClr val="0070C0"/>
            </a:solidFill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12" name="Freeform 12"/>
          <p:cNvSpPr/>
          <p:nvPr/>
        </p:nvSpPr>
        <p:spPr>
          <a:xfrm>
            <a:off x="152400" y="822920"/>
            <a:ext cx="3141922" cy="1175156"/>
          </a:xfrm>
          <a:custGeom>
            <a:avLst/>
            <a:gdLst/>
            <a:ahLst/>
            <a:cxnLst/>
            <a:rect l="l" t="t" r="r" b="b"/>
            <a:pathLst>
              <a:path w="3141922" h="1175156">
                <a:moveTo>
                  <a:pt x="0" y="0"/>
                </a:moveTo>
                <a:lnTo>
                  <a:pt x="3141922" y="0"/>
                </a:lnTo>
                <a:lnTo>
                  <a:pt x="3141922" y="1175156"/>
                </a:lnTo>
                <a:lnTo>
                  <a:pt x="0" y="117515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3242" t="-150142" r="-13734" b="-508487"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532143"/>
            <a:ext cx="18287998" cy="754857"/>
            <a:chOff x="0" y="0"/>
            <a:chExt cx="24383998" cy="100647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1028700" y="308570"/>
            <a:ext cx="16253460" cy="923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sz="54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FEASIBILITY AND VIABILITY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637393" y="2333625"/>
            <a:ext cx="14107534" cy="5553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lang="en-US" sz="3000" b="1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Feasibility Analysis</a:t>
            </a:r>
          </a:p>
          <a:p>
            <a:pPr marL="647706" lvl="1" indent="-323853" algn="just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 Technically feasible : using techniques like CNNs, RNNs, and GANs.</a:t>
            </a:r>
          </a:p>
          <a:p>
            <a:pPr marL="647706" lvl="1" indent="-323853" algn="just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 High user demand for deep fake detection tools</a:t>
            </a:r>
          </a:p>
          <a:p>
            <a:pPr marL="647706" lvl="1" indent="-323853" algn="just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 Potential for Accuracy</a:t>
            </a:r>
          </a:p>
          <a:p>
            <a:pPr algn="just">
              <a:lnSpc>
                <a:spcPts val="3600"/>
              </a:lnSpc>
            </a:pPr>
            <a:endParaRPr lang="en-US" sz="3000">
              <a:solidFill>
                <a:srgbClr val="000000"/>
              </a:solidFill>
              <a:latin typeface="Arial MT Pro"/>
              <a:ea typeface="Arial MT Pro"/>
              <a:cs typeface="Arial MT Pro"/>
              <a:sym typeface="Arial MT Pro"/>
            </a:endParaRPr>
          </a:p>
          <a:p>
            <a:pPr algn="just">
              <a:lnSpc>
                <a:spcPts val="3600"/>
              </a:lnSpc>
            </a:pPr>
            <a:r>
              <a:rPr lang="en-US" sz="3000" b="1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Potential Challenges and Risks</a:t>
            </a:r>
          </a:p>
          <a:p>
            <a:pPr marL="647706" lvl="1" indent="-323853" algn="just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 Rapidly evolving deep fake technologies</a:t>
            </a:r>
          </a:p>
          <a:p>
            <a:pPr marL="647706" lvl="1" indent="-323853" algn="just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 Privacy concerns with sensitive content</a:t>
            </a:r>
          </a:p>
          <a:p>
            <a:pPr algn="just">
              <a:lnSpc>
                <a:spcPts val="3600"/>
              </a:lnSpc>
            </a:pPr>
            <a:endParaRPr lang="en-US" sz="3000">
              <a:solidFill>
                <a:srgbClr val="000000"/>
              </a:solidFill>
              <a:latin typeface="Arial MT Pro"/>
              <a:ea typeface="Arial MT Pro"/>
              <a:cs typeface="Arial MT Pro"/>
              <a:sym typeface="Arial MT Pro"/>
            </a:endParaRPr>
          </a:p>
          <a:p>
            <a:pPr algn="just">
              <a:lnSpc>
                <a:spcPts val="3600"/>
              </a:lnSpc>
            </a:pPr>
            <a:r>
              <a:rPr lang="en-US" sz="3000" b="1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Strategies for overcoming these challenges</a:t>
            </a:r>
          </a:p>
          <a:p>
            <a:pPr marL="647706" lvl="1" indent="-323853" algn="just">
              <a:lnSpc>
                <a:spcPts val="3600"/>
              </a:lnSpc>
              <a:buFont typeface="Arial"/>
              <a:buChar char="•"/>
            </a:pPr>
            <a:r>
              <a:rPr lang="en-US" sz="3000" b="1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 </a:t>
            </a:r>
            <a:r>
              <a:rPr lang="en-US" sz="30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 Extensive testing to reduce false positives/negatives</a:t>
            </a:r>
          </a:p>
          <a:p>
            <a:pPr algn="just">
              <a:lnSpc>
                <a:spcPts val="3600"/>
              </a:lnSpc>
            </a:pPr>
            <a:endParaRPr lang="en-US" sz="3000">
              <a:solidFill>
                <a:srgbClr val="000000"/>
              </a:solidFill>
              <a:latin typeface="Arial MT Pro"/>
              <a:ea typeface="Arial MT Pro"/>
              <a:cs typeface="Arial MT Pro"/>
              <a:sym typeface="Arial MT Pro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3197840" y="9561200"/>
            <a:ext cx="4084320" cy="475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160"/>
              </a:lnSpc>
            </a:pPr>
            <a:r>
              <a:rPr lang="en-US" sz="1800" b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4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063740" y="9655973"/>
            <a:ext cx="4623120" cy="285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@SIH Idea submission- 2024</a:t>
            </a:r>
          </a:p>
        </p:txBody>
      </p:sp>
      <p:sp>
        <p:nvSpPr>
          <p:cNvPr id="8" name="Freeform 8"/>
          <p:cNvSpPr/>
          <p:nvPr/>
        </p:nvSpPr>
        <p:spPr>
          <a:xfrm>
            <a:off x="14705866" y="122064"/>
            <a:ext cx="3369862" cy="1723612"/>
          </a:xfrm>
          <a:custGeom>
            <a:avLst/>
            <a:gdLst/>
            <a:ahLst/>
            <a:cxnLst/>
            <a:rect l="l" t="t" r="r" b="b"/>
            <a:pathLst>
              <a:path w="3369862" h="1723612">
                <a:moveTo>
                  <a:pt x="0" y="0"/>
                </a:moveTo>
                <a:lnTo>
                  <a:pt x="3369863" y="0"/>
                </a:lnTo>
                <a:lnTo>
                  <a:pt x="3369863" y="1723613"/>
                </a:lnTo>
                <a:lnTo>
                  <a:pt x="0" y="172361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46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Freeform 9"/>
          <p:cNvSpPr/>
          <p:nvPr/>
        </p:nvSpPr>
        <p:spPr>
          <a:xfrm>
            <a:off x="152400" y="822920"/>
            <a:ext cx="3141922" cy="1303799"/>
          </a:xfrm>
          <a:custGeom>
            <a:avLst/>
            <a:gdLst/>
            <a:ahLst/>
            <a:cxnLst/>
            <a:rect l="l" t="t" r="r" b="b"/>
            <a:pathLst>
              <a:path w="3141922" h="1303799">
                <a:moveTo>
                  <a:pt x="0" y="0"/>
                </a:moveTo>
                <a:lnTo>
                  <a:pt x="3141922" y="0"/>
                </a:lnTo>
                <a:lnTo>
                  <a:pt x="3141922" y="1303800"/>
                </a:lnTo>
                <a:lnTo>
                  <a:pt x="0" y="13038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3242" t="-135328" r="-13734" b="-448449"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532143"/>
            <a:ext cx="18287998" cy="754857"/>
            <a:chOff x="0" y="0"/>
            <a:chExt cx="24383998" cy="100647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1028700" y="514350"/>
            <a:ext cx="16276320" cy="923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sz="54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IMPACT AND BENEFITS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322689" y="2164700"/>
            <a:ext cx="12917311" cy="5543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656"/>
              </a:lnSpc>
            </a:pPr>
            <a:r>
              <a:rPr lang="en-US" sz="3046" b="1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Potential Impact on the Target Audience</a:t>
            </a:r>
          </a:p>
          <a:p>
            <a:pPr algn="just">
              <a:lnSpc>
                <a:spcPts val="3656"/>
              </a:lnSpc>
            </a:pPr>
            <a:r>
              <a:rPr lang="en-US" sz="3046" b="1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 •Enhanced Trust in digital media</a:t>
            </a:r>
          </a:p>
          <a:p>
            <a:pPr algn="just">
              <a:lnSpc>
                <a:spcPts val="3656"/>
              </a:lnSpc>
            </a:pPr>
            <a:r>
              <a:rPr lang="en-US" sz="3046" b="1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 •Content moderation and regulation</a:t>
            </a:r>
          </a:p>
          <a:p>
            <a:pPr algn="just">
              <a:lnSpc>
                <a:spcPts val="3656"/>
              </a:lnSpc>
            </a:pPr>
            <a:r>
              <a:rPr lang="en-US" sz="3046" b="1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 •Commercial and Entertainment Sectors </a:t>
            </a:r>
          </a:p>
          <a:p>
            <a:pPr algn="just">
              <a:lnSpc>
                <a:spcPts val="3656"/>
              </a:lnSpc>
            </a:pPr>
            <a:endParaRPr lang="en-US" sz="3046" b="1">
              <a:solidFill>
                <a:srgbClr val="000000"/>
              </a:solidFill>
              <a:latin typeface="Arial MT Pro Bold"/>
              <a:ea typeface="Arial MT Pro Bold"/>
              <a:cs typeface="Arial MT Pro Bold"/>
              <a:sym typeface="Arial MT Pro Bold"/>
            </a:endParaRPr>
          </a:p>
          <a:p>
            <a:pPr algn="just">
              <a:lnSpc>
                <a:spcPts val="3656"/>
              </a:lnSpc>
            </a:pPr>
            <a:r>
              <a:rPr lang="en-US" sz="3046" b="1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Benefits of the Solution</a:t>
            </a:r>
          </a:p>
          <a:p>
            <a:pPr algn="just">
              <a:lnSpc>
                <a:spcPts val="3656"/>
              </a:lnSpc>
            </a:pPr>
            <a:endParaRPr lang="en-US" sz="3046" b="1">
              <a:solidFill>
                <a:srgbClr val="000000"/>
              </a:solidFill>
              <a:latin typeface="Arial MT Pro Bold"/>
              <a:ea typeface="Arial MT Pro Bold"/>
              <a:cs typeface="Arial MT Pro Bold"/>
              <a:sym typeface="Arial MT Pro Bold"/>
            </a:endParaRPr>
          </a:p>
          <a:p>
            <a:pPr algn="just">
              <a:lnSpc>
                <a:spcPts val="3656"/>
              </a:lnSpc>
            </a:pPr>
            <a:r>
              <a:rPr lang="en-US" sz="3046" b="1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• Cost efficient </a:t>
            </a:r>
          </a:p>
          <a:p>
            <a:pPr algn="just">
              <a:lnSpc>
                <a:spcPts val="3656"/>
              </a:lnSpc>
            </a:pPr>
            <a:r>
              <a:rPr lang="en-US" sz="3046" b="1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• Education value</a:t>
            </a:r>
          </a:p>
          <a:p>
            <a:pPr algn="just">
              <a:lnSpc>
                <a:spcPts val="3656"/>
              </a:lnSpc>
            </a:pPr>
            <a:r>
              <a:rPr lang="en-US" sz="3046" b="1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• Preventing Identity Theft</a:t>
            </a:r>
          </a:p>
          <a:p>
            <a:pPr algn="just">
              <a:lnSpc>
                <a:spcPts val="3656"/>
              </a:lnSpc>
            </a:pPr>
            <a:r>
              <a:rPr lang="en-US" sz="3046" b="1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  </a:t>
            </a:r>
          </a:p>
          <a:p>
            <a:pPr algn="just">
              <a:lnSpc>
                <a:spcPts val="3656"/>
              </a:lnSpc>
            </a:pPr>
            <a:endParaRPr lang="en-US" sz="3046" b="1">
              <a:solidFill>
                <a:srgbClr val="000000"/>
              </a:solidFill>
              <a:latin typeface="Arial MT Pro Bold"/>
              <a:ea typeface="Arial MT Pro Bold"/>
              <a:cs typeface="Arial MT Pro Bold"/>
              <a:sym typeface="Arial MT Pro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3197840" y="9561200"/>
            <a:ext cx="4084320" cy="475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160"/>
              </a:lnSpc>
            </a:pPr>
            <a:r>
              <a:rPr lang="en-US" sz="1800" b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5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063740" y="9655973"/>
            <a:ext cx="4623120" cy="285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@SIH Idea submission-2024</a:t>
            </a:r>
          </a:p>
        </p:txBody>
      </p:sp>
      <p:sp>
        <p:nvSpPr>
          <p:cNvPr id="8" name="Freeform 8"/>
          <p:cNvSpPr/>
          <p:nvPr/>
        </p:nvSpPr>
        <p:spPr>
          <a:xfrm>
            <a:off x="14705866" y="122064"/>
            <a:ext cx="3369862" cy="1723612"/>
          </a:xfrm>
          <a:custGeom>
            <a:avLst/>
            <a:gdLst/>
            <a:ahLst/>
            <a:cxnLst/>
            <a:rect l="l" t="t" r="r" b="b"/>
            <a:pathLst>
              <a:path w="3369862" h="1723612">
                <a:moveTo>
                  <a:pt x="0" y="0"/>
                </a:moveTo>
                <a:lnTo>
                  <a:pt x="3369863" y="0"/>
                </a:lnTo>
                <a:lnTo>
                  <a:pt x="3369863" y="1723613"/>
                </a:lnTo>
                <a:lnTo>
                  <a:pt x="0" y="172361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46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Freeform 9"/>
          <p:cNvSpPr/>
          <p:nvPr/>
        </p:nvSpPr>
        <p:spPr>
          <a:xfrm>
            <a:off x="152400" y="822920"/>
            <a:ext cx="3141922" cy="1175156"/>
          </a:xfrm>
          <a:custGeom>
            <a:avLst/>
            <a:gdLst/>
            <a:ahLst/>
            <a:cxnLst/>
            <a:rect l="l" t="t" r="r" b="b"/>
            <a:pathLst>
              <a:path w="3141922" h="1175156">
                <a:moveTo>
                  <a:pt x="0" y="0"/>
                </a:moveTo>
                <a:lnTo>
                  <a:pt x="3141922" y="0"/>
                </a:lnTo>
                <a:lnTo>
                  <a:pt x="3141922" y="1175156"/>
                </a:lnTo>
                <a:lnTo>
                  <a:pt x="0" y="117515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3242" t="-150142" r="-13734" b="-508487"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532143"/>
            <a:ext cx="18287998" cy="754857"/>
            <a:chOff x="0" y="0"/>
            <a:chExt cx="24383998" cy="100647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982980" y="514350"/>
            <a:ext cx="16276320" cy="923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sz="54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RESEARCH  AND REFERENCES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3197840" y="9561200"/>
            <a:ext cx="4084320" cy="475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160"/>
              </a:lnSpc>
            </a:pPr>
            <a:r>
              <a:rPr lang="en-US" sz="1800" b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063740" y="9655973"/>
            <a:ext cx="4623120" cy="285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@SIH Idea submission- 2024</a:t>
            </a:r>
          </a:p>
        </p:txBody>
      </p:sp>
      <p:sp>
        <p:nvSpPr>
          <p:cNvPr id="7" name="Freeform 7"/>
          <p:cNvSpPr/>
          <p:nvPr/>
        </p:nvSpPr>
        <p:spPr>
          <a:xfrm>
            <a:off x="14705866" y="122064"/>
            <a:ext cx="3369862" cy="1723612"/>
          </a:xfrm>
          <a:custGeom>
            <a:avLst/>
            <a:gdLst/>
            <a:ahLst/>
            <a:cxnLst/>
            <a:rect l="l" t="t" r="r" b="b"/>
            <a:pathLst>
              <a:path w="3369862" h="1723612">
                <a:moveTo>
                  <a:pt x="0" y="0"/>
                </a:moveTo>
                <a:lnTo>
                  <a:pt x="3369863" y="0"/>
                </a:lnTo>
                <a:lnTo>
                  <a:pt x="3369863" y="1723613"/>
                </a:lnTo>
                <a:lnTo>
                  <a:pt x="0" y="172361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46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TextBox 8"/>
          <p:cNvSpPr txBox="1"/>
          <p:nvPr/>
        </p:nvSpPr>
        <p:spPr>
          <a:xfrm>
            <a:off x="3294322" y="1189794"/>
            <a:ext cx="11566236" cy="8751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68"/>
              </a:lnSpc>
            </a:pPr>
            <a:endParaRPr/>
          </a:p>
          <a:p>
            <a:pPr algn="l">
              <a:lnSpc>
                <a:spcPts val="4838"/>
              </a:lnSpc>
            </a:pPr>
            <a:r>
              <a:rPr lang="en-US" sz="3456" b="1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RESEARCH PAPER. REFERNCE:-</a:t>
            </a:r>
          </a:p>
          <a:p>
            <a:pPr algn="l">
              <a:lnSpc>
                <a:spcPts val="3625"/>
              </a:lnSpc>
            </a:pPr>
            <a:endParaRPr lang="en-US" sz="3456" b="1">
              <a:solidFill>
                <a:srgbClr val="000000"/>
              </a:solidFill>
              <a:latin typeface="Arial MT Pro Bold"/>
              <a:ea typeface="Arial MT Pro Bold"/>
              <a:cs typeface="Arial MT Pro Bold"/>
              <a:sym typeface="Arial MT Pro Bold"/>
            </a:endParaRPr>
          </a:p>
          <a:p>
            <a:pPr algn="l">
              <a:lnSpc>
                <a:spcPts val="3625"/>
              </a:lnSpc>
            </a:pPr>
            <a:r>
              <a:rPr lang="en-US" sz="2589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Rana, M. S., Nobi, M. N., Murali, B., &amp; Sung, A. H. Deepfake detection: A systematic literature review. IEEE Access, 10,(2002)</a:t>
            </a:r>
          </a:p>
          <a:p>
            <a:pPr algn="l">
              <a:lnSpc>
                <a:spcPts val="3625"/>
              </a:lnSpc>
            </a:pPr>
            <a:r>
              <a:rPr lang="en-US" sz="2589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 Dolhansky, B., Bitton, J., Pflaum, B., Lu, J., Howes, R., Wang, M., &amp; Ferrer, C. C. The deepfake detection challenge (dfdc) dataset. arXiv preprint arXiv:2006.07397.(2020)</a:t>
            </a:r>
          </a:p>
          <a:p>
            <a:pPr algn="l">
              <a:lnSpc>
                <a:spcPts val="3894"/>
              </a:lnSpc>
            </a:pPr>
            <a:endParaRPr lang="en-US" sz="2589">
              <a:solidFill>
                <a:srgbClr val="000000"/>
              </a:solidFill>
              <a:latin typeface="Arial MT Pro"/>
              <a:ea typeface="Arial MT Pro"/>
              <a:cs typeface="Arial MT Pro"/>
              <a:sym typeface="Arial MT Pro"/>
            </a:endParaRPr>
          </a:p>
          <a:p>
            <a:pPr algn="l">
              <a:lnSpc>
                <a:spcPts val="4703"/>
              </a:lnSpc>
            </a:pPr>
            <a:r>
              <a:rPr lang="en-US" sz="3359" b="1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BOOKS REFERNCE:-</a:t>
            </a:r>
          </a:p>
          <a:p>
            <a:pPr algn="l">
              <a:lnSpc>
                <a:spcPts val="3625"/>
              </a:lnSpc>
            </a:pPr>
            <a:endParaRPr lang="en-US" sz="3359" b="1">
              <a:solidFill>
                <a:srgbClr val="000000"/>
              </a:solidFill>
              <a:latin typeface="Arial MT Pro Bold"/>
              <a:ea typeface="Arial MT Pro Bold"/>
              <a:cs typeface="Arial MT Pro Bold"/>
              <a:sym typeface="Arial MT Pro Bold"/>
            </a:endParaRPr>
          </a:p>
          <a:p>
            <a:pPr algn="l">
              <a:lnSpc>
                <a:spcPts val="3625"/>
              </a:lnSpc>
            </a:pPr>
            <a:r>
              <a:rPr lang="en-US" sz="2589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[1] A. K. Singh, "Deep Learning for Deepfake Detection," Springer, pp. 1-300, 2022. </a:t>
            </a:r>
          </a:p>
          <a:p>
            <a:pPr algn="l">
              <a:lnSpc>
                <a:spcPts val="3625"/>
              </a:lnSpc>
            </a:pPr>
            <a:endParaRPr lang="en-US" sz="2589">
              <a:solidFill>
                <a:srgbClr val="000000"/>
              </a:solidFill>
              <a:latin typeface="Arial MT Pro"/>
              <a:ea typeface="Arial MT Pro"/>
              <a:cs typeface="Arial MT Pro"/>
              <a:sym typeface="Arial MT Pro"/>
            </a:endParaRPr>
          </a:p>
          <a:p>
            <a:pPr algn="l">
              <a:lnSpc>
                <a:spcPts val="2951"/>
              </a:lnSpc>
            </a:pPr>
            <a:endParaRPr lang="en-US" sz="2589">
              <a:solidFill>
                <a:srgbClr val="000000"/>
              </a:solidFill>
              <a:latin typeface="Arial MT Pro"/>
              <a:ea typeface="Arial MT Pro"/>
              <a:cs typeface="Arial MT Pro"/>
              <a:sym typeface="Arial MT Pro"/>
            </a:endParaRPr>
          </a:p>
          <a:p>
            <a:pPr algn="l">
              <a:lnSpc>
                <a:spcPts val="2951"/>
              </a:lnSpc>
            </a:pPr>
            <a:endParaRPr lang="en-US" sz="2589">
              <a:solidFill>
                <a:srgbClr val="000000"/>
              </a:solidFill>
              <a:latin typeface="Arial MT Pro"/>
              <a:ea typeface="Arial MT Pro"/>
              <a:cs typeface="Arial MT Pro"/>
              <a:sym typeface="Arial MT Pro"/>
            </a:endParaRPr>
          </a:p>
          <a:p>
            <a:pPr algn="l">
              <a:lnSpc>
                <a:spcPts val="2951"/>
              </a:lnSpc>
            </a:pPr>
            <a:endParaRPr lang="en-US" sz="2589">
              <a:solidFill>
                <a:srgbClr val="000000"/>
              </a:solidFill>
              <a:latin typeface="Arial MT Pro"/>
              <a:ea typeface="Arial MT Pro"/>
              <a:cs typeface="Arial MT Pro"/>
              <a:sym typeface="Arial MT Pro"/>
            </a:endParaRPr>
          </a:p>
          <a:p>
            <a:pPr algn="l">
              <a:lnSpc>
                <a:spcPts val="2951"/>
              </a:lnSpc>
            </a:pPr>
            <a:endParaRPr lang="en-US" sz="2589">
              <a:solidFill>
                <a:srgbClr val="000000"/>
              </a:solidFill>
              <a:latin typeface="Arial MT Pro"/>
              <a:ea typeface="Arial MT Pro"/>
              <a:cs typeface="Arial MT Pro"/>
              <a:sym typeface="Arial MT Pro"/>
            </a:endParaRPr>
          </a:p>
          <a:p>
            <a:pPr algn="l">
              <a:lnSpc>
                <a:spcPts val="2951"/>
              </a:lnSpc>
            </a:pPr>
            <a:endParaRPr lang="en-US" sz="2589">
              <a:solidFill>
                <a:srgbClr val="000000"/>
              </a:solidFill>
              <a:latin typeface="Arial MT Pro"/>
              <a:ea typeface="Arial MT Pro"/>
              <a:cs typeface="Arial MT Pro"/>
              <a:sym typeface="Arial MT Pro"/>
            </a:endParaRPr>
          </a:p>
        </p:txBody>
      </p:sp>
      <p:sp>
        <p:nvSpPr>
          <p:cNvPr id="9" name="Freeform 9"/>
          <p:cNvSpPr/>
          <p:nvPr/>
        </p:nvSpPr>
        <p:spPr>
          <a:xfrm>
            <a:off x="152400" y="822920"/>
            <a:ext cx="3141922" cy="1175156"/>
          </a:xfrm>
          <a:custGeom>
            <a:avLst/>
            <a:gdLst/>
            <a:ahLst/>
            <a:cxnLst/>
            <a:rect l="l" t="t" r="r" b="b"/>
            <a:pathLst>
              <a:path w="3141922" h="1175156">
                <a:moveTo>
                  <a:pt x="0" y="0"/>
                </a:moveTo>
                <a:lnTo>
                  <a:pt x="3141922" y="0"/>
                </a:lnTo>
                <a:lnTo>
                  <a:pt x="3141922" y="1175156"/>
                </a:lnTo>
                <a:lnTo>
                  <a:pt x="0" y="117515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3242" t="-150142" r="-13734" b="-508487"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311230" y="1923868"/>
            <a:ext cx="7665541" cy="7052402"/>
          </a:xfrm>
          <a:custGeom>
            <a:avLst/>
            <a:gdLst/>
            <a:ahLst/>
            <a:cxnLst/>
            <a:rect l="l" t="t" r="r" b="b"/>
            <a:pathLst>
              <a:path w="7665541" h="7052402">
                <a:moveTo>
                  <a:pt x="0" y="0"/>
                </a:moveTo>
                <a:lnTo>
                  <a:pt x="7665540" y="0"/>
                </a:lnTo>
                <a:lnTo>
                  <a:pt x="7665540" y="7052402"/>
                </a:lnTo>
                <a:lnTo>
                  <a:pt x="0" y="70524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8694"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567</Words>
  <Application>Microsoft Office PowerPoint</Application>
  <PresentationFormat>Custom</PresentationFormat>
  <Paragraphs>107</Paragraphs>
  <Slides>8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7" baseType="lpstr">
      <vt:lpstr>Times New Roman Bold</vt:lpstr>
      <vt:lpstr>Arimo Bold</vt:lpstr>
      <vt:lpstr>Calibri</vt:lpstr>
      <vt:lpstr>Garamond Bold</vt:lpstr>
      <vt:lpstr>Arial MT Pro</vt:lpstr>
      <vt:lpstr>Arial</vt:lpstr>
      <vt:lpstr>Arimo</vt:lpstr>
      <vt:lpstr>Arial MT Pro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SIH2024_IDEA_Presentation_Format.pptx</dc:title>
  <cp:lastModifiedBy>Chetan Khapedia</cp:lastModifiedBy>
  <cp:revision>1</cp:revision>
  <dcterms:created xsi:type="dcterms:W3CDTF">2006-08-16T00:00:00Z</dcterms:created>
  <dcterms:modified xsi:type="dcterms:W3CDTF">2025-09-15T07:01:08Z</dcterms:modified>
  <dc:identifier>DAGPn3bzO20</dc:identifier>
</cp:coreProperties>
</file>