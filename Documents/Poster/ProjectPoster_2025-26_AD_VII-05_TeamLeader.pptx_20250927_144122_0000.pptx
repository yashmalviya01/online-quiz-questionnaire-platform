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693400" cy="7556500"/>
  <p:notesSz cx="6858000" cy="9144000"/>
  <p:embeddedFontLst>
    <p:embeddedFont>
      <p:font typeface="Montserrat Bold" charset="1" panose="00000800000000000000"/>
      <p:regular r:id="rId7"/>
    </p:embeddedFont>
    <p:embeddedFont>
      <p:font typeface="Canva Sans Bold" charset="1" panose="020B08030305010401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71583" y="1011853"/>
            <a:ext cx="4413742" cy="506569"/>
            <a:chOff x="0" y="0"/>
            <a:chExt cx="5884989" cy="675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8509" y="8509"/>
              <a:ext cx="5868035" cy="658368"/>
            </a:xfrm>
            <a:custGeom>
              <a:avLst/>
              <a:gdLst/>
              <a:ahLst/>
              <a:cxnLst/>
              <a:rect r="r" b="b" t="t" l="l"/>
              <a:pathLst>
                <a:path h="658368" w="5868035">
                  <a:moveTo>
                    <a:pt x="0" y="109728"/>
                  </a:moveTo>
                  <a:cubicBezTo>
                    <a:pt x="0" y="49149"/>
                    <a:pt x="50165" y="0"/>
                    <a:pt x="112268" y="0"/>
                  </a:cubicBezTo>
                  <a:lnTo>
                    <a:pt x="5755767" y="0"/>
                  </a:lnTo>
                  <a:cubicBezTo>
                    <a:pt x="5817743" y="0"/>
                    <a:pt x="5868035" y="49149"/>
                    <a:pt x="5868035" y="109728"/>
                  </a:cubicBezTo>
                  <a:lnTo>
                    <a:pt x="5868035" y="548640"/>
                  </a:lnTo>
                  <a:cubicBezTo>
                    <a:pt x="5868035" y="609219"/>
                    <a:pt x="5817743" y="658368"/>
                    <a:pt x="5755767" y="658368"/>
                  </a:cubicBezTo>
                  <a:lnTo>
                    <a:pt x="112268" y="658368"/>
                  </a:lnTo>
                  <a:cubicBezTo>
                    <a:pt x="50292" y="658368"/>
                    <a:pt x="0" y="609219"/>
                    <a:pt x="0" y="548640"/>
                  </a:cubicBez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885053" cy="675386"/>
            </a:xfrm>
            <a:custGeom>
              <a:avLst/>
              <a:gdLst/>
              <a:ahLst/>
              <a:cxnLst/>
              <a:rect r="r" b="b" t="t" l="l"/>
              <a:pathLst>
                <a:path h="675386" w="5885053">
                  <a:moveTo>
                    <a:pt x="0" y="118237"/>
                  </a:moveTo>
                  <a:cubicBezTo>
                    <a:pt x="0" y="52705"/>
                    <a:pt x="54229" y="0"/>
                    <a:pt x="120777" y="0"/>
                  </a:cubicBezTo>
                  <a:lnTo>
                    <a:pt x="5764276" y="0"/>
                  </a:lnTo>
                  <a:lnTo>
                    <a:pt x="5764276" y="8509"/>
                  </a:lnTo>
                  <a:lnTo>
                    <a:pt x="5764276" y="0"/>
                  </a:lnTo>
                  <a:cubicBezTo>
                    <a:pt x="5830824" y="0"/>
                    <a:pt x="5885053" y="52705"/>
                    <a:pt x="5885053" y="118237"/>
                  </a:cubicBezTo>
                  <a:lnTo>
                    <a:pt x="5876544" y="118237"/>
                  </a:lnTo>
                  <a:lnTo>
                    <a:pt x="5885053" y="118237"/>
                  </a:lnTo>
                  <a:lnTo>
                    <a:pt x="5885053" y="557149"/>
                  </a:lnTo>
                  <a:lnTo>
                    <a:pt x="5876544" y="557149"/>
                  </a:lnTo>
                  <a:lnTo>
                    <a:pt x="5885053" y="557149"/>
                  </a:lnTo>
                  <a:cubicBezTo>
                    <a:pt x="5885053" y="622681"/>
                    <a:pt x="5830824" y="675386"/>
                    <a:pt x="5764276" y="675386"/>
                  </a:cubicBezTo>
                  <a:lnTo>
                    <a:pt x="5764276" y="666877"/>
                  </a:lnTo>
                  <a:lnTo>
                    <a:pt x="5764276" y="675386"/>
                  </a:lnTo>
                  <a:lnTo>
                    <a:pt x="120777" y="675386"/>
                  </a:lnTo>
                  <a:lnTo>
                    <a:pt x="120777" y="666877"/>
                  </a:lnTo>
                  <a:lnTo>
                    <a:pt x="120777" y="675386"/>
                  </a:lnTo>
                  <a:cubicBezTo>
                    <a:pt x="54229" y="675386"/>
                    <a:pt x="0" y="622681"/>
                    <a:pt x="0" y="557149"/>
                  </a:cubicBezTo>
                  <a:lnTo>
                    <a:pt x="0" y="118237"/>
                  </a:lnTo>
                  <a:lnTo>
                    <a:pt x="8509" y="118237"/>
                  </a:lnTo>
                  <a:lnTo>
                    <a:pt x="0" y="118237"/>
                  </a:lnTo>
                  <a:moveTo>
                    <a:pt x="16891" y="118237"/>
                  </a:moveTo>
                  <a:lnTo>
                    <a:pt x="16891" y="557149"/>
                  </a:lnTo>
                  <a:lnTo>
                    <a:pt x="8509" y="557149"/>
                  </a:lnTo>
                  <a:lnTo>
                    <a:pt x="17018" y="557149"/>
                  </a:lnTo>
                  <a:cubicBezTo>
                    <a:pt x="17018" y="612902"/>
                    <a:pt x="63246" y="658368"/>
                    <a:pt x="120777" y="658368"/>
                  </a:cubicBezTo>
                  <a:lnTo>
                    <a:pt x="5764276" y="658368"/>
                  </a:lnTo>
                  <a:cubicBezTo>
                    <a:pt x="5821807" y="658368"/>
                    <a:pt x="5868035" y="612902"/>
                    <a:pt x="5868035" y="557149"/>
                  </a:cubicBezTo>
                  <a:lnTo>
                    <a:pt x="5868035" y="118237"/>
                  </a:lnTo>
                  <a:cubicBezTo>
                    <a:pt x="5868035" y="62484"/>
                    <a:pt x="5821807" y="17018"/>
                    <a:pt x="5764276" y="17018"/>
                  </a:cubicBezTo>
                  <a:lnTo>
                    <a:pt x="120777" y="17018"/>
                  </a:lnTo>
                  <a:lnTo>
                    <a:pt x="120777" y="8509"/>
                  </a:lnTo>
                  <a:lnTo>
                    <a:pt x="120777" y="17018"/>
                  </a:lnTo>
                  <a:cubicBezTo>
                    <a:pt x="63246" y="17018"/>
                    <a:pt x="17018" y="62484"/>
                    <a:pt x="17018" y="118237"/>
                  </a:cubicBezTo>
                  <a:close/>
                </a:path>
              </a:pathLst>
            </a:custGeom>
            <a:solidFill>
              <a:srgbClr val="385D8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3133479" y="954868"/>
            <a:ext cx="4642367" cy="582548"/>
            <a:chOff x="0" y="0"/>
            <a:chExt cx="6189823" cy="7767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8509" y="8509"/>
              <a:ext cx="6172962" cy="759714"/>
            </a:xfrm>
            <a:custGeom>
              <a:avLst/>
              <a:gdLst/>
              <a:ahLst/>
              <a:cxnLst/>
              <a:rect r="r" b="b" t="t" l="l"/>
              <a:pathLst>
                <a:path h="759714" w="6172962">
                  <a:moveTo>
                    <a:pt x="0" y="126619"/>
                  </a:moveTo>
                  <a:cubicBezTo>
                    <a:pt x="0" y="56642"/>
                    <a:pt x="57785" y="0"/>
                    <a:pt x="129032" y="0"/>
                  </a:cubicBezTo>
                  <a:lnTo>
                    <a:pt x="6043803" y="0"/>
                  </a:lnTo>
                  <a:cubicBezTo>
                    <a:pt x="6115050" y="0"/>
                    <a:pt x="6172962" y="56642"/>
                    <a:pt x="6172962" y="126619"/>
                  </a:cubicBezTo>
                  <a:lnTo>
                    <a:pt x="6172962" y="633095"/>
                  </a:lnTo>
                  <a:cubicBezTo>
                    <a:pt x="6172962" y="703072"/>
                    <a:pt x="6115177" y="759714"/>
                    <a:pt x="6043803" y="759714"/>
                  </a:cubicBezTo>
                  <a:lnTo>
                    <a:pt x="129032" y="759714"/>
                  </a:lnTo>
                  <a:cubicBezTo>
                    <a:pt x="57785" y="759714"/>
                    <a:pt x="0" y="703072"/>
                    <a:pt x="0" y="633095"/>
                  </a:cubicBezTo>
                  <a:close/>
                </a:path>
              </a:pathLst>
            </a:custGeom>
            <a:solidFill>
              <a:srgbClr val="4F81B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89853" cy="776732"/>
            </a:xfrm>
            <a:custGeom>
              <a:avLst/>
              <a:gdLst/>
              <a:ahLst/>
              <a:cxnLst/>
              <a:rect r="r" b="b" t="t" l="l"/>
              <a:pathLst>
                <a:path h="776732" w="6189853">
                  <a:moveTo>
                    <a:pt x="0" y="135128"/>
                  </a:moveTo>
                  <a:cubicBezTo>
                    <a:pt x="0" y="60325"/>
                    <a:pt x="61722" y="0"/>
                    <a:pt x="137541" y="0"/>
                  </a:cubicBezTo>
                  <a:lnTo>
                    <a:pt x="6052312" y="0"/>
                  </a:lnTo>
                  <a:lnTo>
                    <a:pt x="6052312" y="8509"/>
                  </a:lnTo>
                  <a:lnTo>
                    <a:pt x="6052312" y="0"/>
                  </a:lnTo>
                  <a:cubicBezTo>
                    <a:pt x="6128131" y="0"/>
                    <a:pt x="6189853" y="60325"/>
                    <a:pt x="6189853" y="135128"/>
                  </a:cubicBezTo>
                  <a:lnTo>
                    <a:pt x="6181344" y="135128"/>
                  </a:lnTo>
                  <a:lnTo>
                    <a:pt x="6189853" y="135128"/>
                  </a:lnTo>
                  <a:lnTo>
                    <a:pt x="6189853" y="641604"/>
                  </a:lnTo>
                  <a:lnTo>
                    <a:pt x="6181344" y="641604"/>
                  </a:lnTo>
                  <a:lnTo>
                    <a:pt x="6189853" y="641604"/>
                  </a:lnTo>
                  <a:cubicBezTo>
                    <a:pt x="6189853" y="716407"/>
                    <a:pt x="6128131" y="776732"/>
                    <a:pt x="6052312" y="776732"/>
                  </a:cubicBezTo>
                  <a:lnTo>
                    <a:pt x="6052312" y="768223"/>
                  </a:lnTo>
                  <a:lnTo>
                    <a:pt x="6052312" y="776732"/>
                  </a:lnTo>
                  <a:lnTo>
                    <a:pt x="137541" y="776732"/>
                  </a:lnTo>
                  <a:lnTo>
                    <a:pt x="137541" y="768223"/>
                  </a:lnTo>
                  <a:lnTo>
                    <a:pt x="137541" y="776732"/>
                  </a:lnTo>
                  <a:cubicBezTo>
                    <a:pt x="61722" y="776732"/>
                    <a:pt x="0" y="716407"/>
                    <a:pt x="0" y="641604"/>
                  </a:cubicBezTo>
                  <a:lnTo>
                    <a:pt x="0" y="135128"/>
                  </a:lnTo>
                  <a:lnTo>
                    <a:pt x="8509" y="135128"/>
                  </a:lnTo>
                  <a:lnTo>
                    <a:pt x="0" y="135128"/>
                  </a:lnTo>
                  <a:moveTo>
                    <a:pt x="16891" y="135128"/>
                  </a:moveTo>
                  <a:lnTo>
                    <a:pt x="16891" y="641604"/>
                  </a:lnTo>
                  <a:lnTo>
                    <a:pt x="8509" y="641604"/>
                  </a:lnTo>
                  <a:lnTo>
                    <a:pt x="17018" y="641604"/>
                  </a:lnTo>
                  <a:cubicBezTo>
                    <a:pt x="17018" y="706755"/>
                    <a:pt x="70866" y="759714"/>
                    <a:pt x="137668" y="759714"/>
                  </a:cubicBezTo>
                  <a:lnTo>
                    <a:pt x="6052312" y="759714"/>
                  </a:lnTo>
                  <a:cubicBezTo>
                    <a:pt x="6119114" y="759714"/>
                    <a:pt x="6172962" y="706628"/>
                    <a:pt x="6172962" y="641604"/>
                  </a:cubicBezTo>
                  <a:lnTo>
                    <a:pt x="6172962" y="135128"/>
                  </a:lnTo>
                  <a:cubicBezTo>
                    <a:pt x="6172962" y="69977"/>
                    <a:pt x="6119114" y="17018"/>
                    <a:pt x="6052312" y="17018"/>
                  </a:cubicBezTo>
                  <a:lnTo>
                    <a:pt x="137541" y="17018"/>
                  </a:lnTo>
                  <a:lnTo>
                    <a:pt x="137541" y="8509"/>
                  </a:lnTo>
                  <a:lnTo>
                    <a:pt x="137541" y="17018"/>
                  </a:lnTo>
                  <a:cubicBezTo>
                    <a:pt x="70739" y="17018"/>
                    <a:pt x="16891" y="70104"/>
                    <a:pt x="16891" y="135128"/>
                  </a:cubicBezTo>
                  <a:close/>
                </a:path>
              </a:pathLst>
            </a:custGeom>
            <a:solidFill>
              <a:srgbClr val="385D8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834995" y="0"/>
            <a:ext cx="5077164" cy="1966593"/>
            <a:chOff x="0" y="0"/>
            <a:chExt cx="6769552" cy="2622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69608" cy="2622169"/>
            </a:xfrm>
            <a:custGeom>
              <a:avLst/>
              <a:gdLst/>
              <a:ahLst/>
              <a:cxnLst/>
              <a:rect r="r" b="b" t="t" l="l"/>
              <a:pathLst>
                <a:path h="2622169" w="6769608">
                  <a:moveTo>
                    <a:pt x="0" y="0"/>
                  </a:moveTo>
                  <a:lnTo>
                    <a:pt x="6769608" y="0"/>
                  </a:lnTo>
                  <a:lnTo>
                    <a:pt x="6769608" y="2622169"/>
                  </a:lnTo>
                  <a:lnTo>
                    <a:pt x="0" y="2622169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11549" y="4188836"/>
            <a:ext cx="2525723" cy="3356085"/>
            <a:chOff x="0" y="0"/>
            <a:chExt cx="3367631" cy="44747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67659" cy="4474718"/>
            </a:xfrm>
            <a:custGeom>
              <a:avLst/>
              <a:gdLst/>
              <a:ahLst/>
              <a:cxnLst/>
              <a:rect r="r" b="b" t="t" l="l"/>
              <a:pathLst>
                <a:path h="4474718" w="3367659">
                  <a:moveTo>
                    <a:pt x="0" y="0"/>
                  </a:moveTo>
                  <a:lnTo>
                    <a:pt x="3367659" y="0"/>
                  </a:lnTo>
                  <a:lnTo>
                    <a:pt x="3367659" y="4474718"/>
                  </a:lnTo>
                  <a:lnTo>
                    <a:pt x="0" y="44747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99640" y="63677"/>
            <a:ext cx="23816" cy="7434790"/>
            <a:chOff x="0" y="0"/>
            <a:chExt cx="31755" cy="99130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750" cy="9913112"/>
            </a:xfrm>
            <a:custGeom>
              <a:avLst/>
              <a:gdLst/>
              <a:ahLst/>
              <a:cxnLst/>
              <a:rect r="r" b="b" t="t" l="l"/>
              <a:pathLst>
                <a:path h="9913112" w="31750">
                  <a:moveTo>
                    <a:pt x="31750" y="15875"/>
                  </a:moveTo>
                  <a:lnTo>
                    <a:pt x="31750" y="9897237"/>
                  </a:lnTo>
                  <a:cubicBezTo>
                    <a:pt x="31750" y="9906000"/>
                    <a:pt x="24638" y="9913112"/>
                    <a:pt x="15875" y="9913112"/>
                  </a:cubicBezTo>
                  <a:cubicBezTo>
                    <a:pt x="7112" y="9913112"/>
                    <a:pt x="0" y="9906000"/>
                    <a:pt x="0" y="9897237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340446" y="1954787"/>
            <a:ext cx="23816" cy="5544305"/>
            <a:chOff x="0" y="0"/>
            <a:chExt cx="31755" cy="73924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750" cy="7392416"/>
            </a:xfrm>
            <a:custGeom>
              <a:avLst/>
              <a:gdLst/>
              <a:ahLst/>
              <a:cxnLst/>
              <a:rect r="r" b="b" t="t" l="l"/>
              <a:pathLst>
                <a:path h="7392416" w="31750">
                  <a:moveTo>
                    <a:pt x="31750" y="15875"/>
                  </a:moveTo>
                  <a:lnTo>
                    <a:pt x="31750" y="7376541"/>
                  </a:lnTo>
                  <a:cubicBezTo>
                    <a:pt x="31750" y="7385304"/>
                    <a:pt x="24638" y="7392416"/>
                    <a:pt x="15875" y="7392416"/>
                  </a:cubicBezTo>
                  <a:cubicBezTo>
                    <a:pt x="7112" y="7392416"/>
                    <a:pt x="0" y="7385304"/>
                    <a:pt x="0" y="7376541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88713" y="4173979"/>
            <a:ext cx="2811039" cy="1719281"/>
            <a:chOff x="0" y="0"/>
            <a:chExt cx="3748052" cy="22923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748024" cy="2292350"/>
            </a:xfrm>
            <a:custGeom>
              <a:avLst/>
              <a:gdLst/>
              <a:ahLst/>
              <a:cxnLst/>
              <a:rect r="r" b="b" t="t" l="l"/>
              <a:pathLst>
                <a:path h="2292350" w="3748024">
                  <a:moveTo>
                    <a:pt x="0" y="0"/>
                  </a:moveTo>
                  <a:lnTo>
                    <a:pt x="3748024" y="0"/>
                  </a:lnTo>
                  <a:lnTo>
                    <a:pt x="3748024" y="2292350"/>
                  </a:lnTo>
                  <a:lnTo>
                    <a:pt x="0" y="22923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881250" y="4162071"/>
            <a:ext cx="23816" cy="3336396"/>
            <a:chOff x="0" y="0"/>
            <a:chExt cx="31755" cy="44485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50" cy="4448556"/>
            </a:xfrm>
            <a:custGeom>
              <a:avLst/>
              <a:gdLst/>
              <a:ahLst/>
              <a:cxnLst/>
              <a:rect r="r" b="b" t="t" l="l"/>
              <a:pathLst>
                <a:path h="4448556" w="31750">
                  <a:moveTo>
                    <a:pt x="31750" y="15875"/>
                  </a:moveTo>
                  <a:lnTo>
                    <a:pt x="31750" y="4432681"/>
                  </a:lnTo>
                  <a:cubicBezTo>
                    <a:pt x="31750" y="4441444"/>
                    <a:pt x="24638" y="4448556"/>
                    <a:pt x="15875" y="4448556"/>
                  </a:cubicBezTo>
                  <a:cubicBezTo>
                    <a:pt x="7112" y="4448556"/>
                    <a:pt x="0" y="4441444"/>
                    <a:pt x="0" y="4432681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96435" y="211061"/>
            <a:ext cx="2482097" cy="7246306"/>
          </a:xfrm>
          <a:custGeom>
            <a:avLst/>
            <a:gdLst/>
            <a:ahLst/>
            <a:cxnLst/>
            <a:rect r="r" b="b" t="t" l="l"/>
            <a:pathLst>
              <a:path h="7246306" w="2482097">
                <a:moveTo>
                  <a:pt x="0" y="0"/>
                </a:moveTo>
                <a:lnTo>
                  <a:pt x="2482097" y="0"/>
                </a:lnTo>
                <a:lnTo>
                  <a:pt x="2482097" y="7246306"/>
                </a:lnTo>
                <a:lnTo>
                  <a:pt x="0" y="72463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-10800000">
            <a:off x="2799640" y="1942899"/>
            <a:ext cx="5105426" cy="23816"/>
            <a:chOff x="0" y="0"/>
            <a:chExt cx="6807235" cy="3175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07200" cy="31750"/>
            </a:xfrm>
            <a:custGeom>
              <a:avLst/>
              <a:gdLst/>
              <a:ahLst/>
              <a:cxnLst/>
              <a:rect r="r" b="b" t="t" l="l"/>
              <a:pathLst>
                <a:path h="31750" w="6807200">
                  <a:moveTo>
                    <a:pt x="15875" y="0"/>
                  </a:moveTo>
                  <a:lnTo>
                    <a:pt x="6791325" y="0"/>
                  </a:lnTo>
                  <a:cubicBezTo>
                    <a:pt x="6800088" y="0"/>
                    <a:pt x="6807200" y="7112"/>
                    <a:pt x="6807200" y="15875"/>
                  </a:cubicBezTo>
                  <a:cubicBezTo>
                    <a:pt x="6807200" y="24638"/>
                    <a:pt x="6800088" y="31750"/>
                    <a:pt x="6791325" y="31750"/>
                  </a:cubicBezTo>
                  <a:lnTo>
                    <a:pt x="15875" y="31750"/>
                  </a:lnTo>
                  <a:cubicBezTo>
                    <a:pt x="7112" y="31750"/>
                    <a:pt x="0" y="24638"/>
                    <a:pt x="0" y="15875"/>
                  </a:cubicBezTo>
                  <a:cubicBezTo>
                    <a:pt x="0" y="7112"/>
                    <a:pt x="7112" y="0"/>
                    <a:pt x="1587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799640" y="4166876"/>
            <a:ext cx="5105426" cy="33868"/>
            <a:chOff x="0" y="0"/>
            <a:chExt cx="6807235" cy="451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07200" cy="45212"/>
            </a:xfrm>
            <a:custGeom>
              <a:avLst/>
              <a:gdLst/>
              <a:ahLst/>
              <a:cxnLst/>
              <a:rect r="r" b="b" t="t" l="l"/>
              <a:pathLst>
                <a:path h="45212" w="6807200">
                  <a:moveTo>
                    <a:pt x="6791452" y="31750"/>
                  </a:moveTo>
                  <a:lnTo>
                    <a:pt x="15875" y="45212"/>
                  </a:lnTo>
                  <a:cubicBezTo>
                    <a:pt x="7112" y="45212"/>
                    <a:pt x="0" y="38100"/>
                    <a:pt x="0" y="29337"/>
                  </a:cubicBezTo>
                  <a:cubicBezTo>
                    <a:pt x="0" y="20574"/>
                    <a:pt x="7112" y="13462"/>
                    <a:pt x="15875" y="13462"/>
                  </a:cubicBezTo>
                  <a:lnTo>
                    <a:pt x="6791325" y="0"/>
                  </a:lnTo>
                  <a:cubicBezTo>
                    <a:pt x="6800088" y="0"/>
                    <a:pt x="6807200" y="7112"/>
                    <a:pt x="6807200" y="15875"/>
                  </a:cubicBezTo>
                  <a:cubicBezTo>
                    <a:pt x="6807200" y="24638"/>
                    <a:pt x="6800088" y="31750"/>
                    <a:pt x="6791325" y="317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-10800000">
            <a:off x="2799640" y="2607120"/>
            <a:ext cx="5105426" cy="23816"/>
            <a:chOff x="0" y="0"/>
            <a:chExt cx="6807235" cy="317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07200" cy="31750"/>
            </a:xfrm>
            <a:custGeom>
              <a:avLst/>
              <a:gdLst/>
              <a:ahLst/>
              <a:cxnLst/>
              <a:rect r="r" b="b" t="t" l="l"/>
              <a:pathLst>
                <a:path h="31750" w="6807200">
                  <a:moveTo>
                    <a:pt x="15875" y="0"/>
                  </a:moveTo>
                  <a:lnTo>
                    <a:pt x="6791325" y="0"/>
                  </a:lnTo>
                  <a:cubicBezTo>
                    <a:pt x="6800088" y="0"/>
                    <a:pt x="6807200" y="7112"/>
                    <a:pt x="6807200" y="15875"/>
                  </a:cubicBezTo>
                  <a:cubicBezTo>
                    <a:pt x="6807200" y="24638"/>
                    <a:pt x="6800088" y="31750"/>
                    <a:pt x="6791325" y="31750"/>
                  </a:cubicBezTo>
                  <a:lnTo>
                    <a:pt x="15875" y="31750"/>
                  </a:lnTo>
                  <a:cubicBezTo>
                    <a:pt x="7112" y="31750"/>
                    <a:pt x="0" y="24638"/>
                    <a:pt x="0" y="15875"/>
                  </a:cubicBezTo>
                  <a:cubicBezTo>
                    <a:pt x="0" y="7112"/>
                    <a:pt x="7112" y="0"/>
                    <a:pt x="1587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064631" y="178643"/>
            <a:ext cx="767367" cy="379429"/>
            <a:chOff x="0" y="0"/>
            <a:chExt cx="1023157" cy="50590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3112" cy="505968"/>
            </a:xfrm>
            <a:custGeom>
              <a:avLst/>
              <a:gdLst/>
              <a:ahLst/>
              <a:cxnLst/>
              <a:rect r="r" b="b" t="t" l="l"/>
              <a:pathLst>
                <a:path h="505968" w="1023112">
                  <a:moveTo>
                    <a:pt x="0" y="0"/>
                  </a:moveTo>
                  <a:lnTo>
                    <a:pt x="1023112" y="0"/>
                  </a:lnTo>
                  <a:lnTo>
                    <a:pt x="1023112" y="505968"/>
                  </a:lnTo>
                  <a:lnTo>
                    <a:pt x="0" y="505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5" t="0" r="-1019" b="1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908578" y="114317"/>
            <a:ext cx="650332" cy="495553"/>
            <a:chOff x="0" y="0"/>
            <a:chExt cx="867109" cy="66073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7156" cy="660781"/>
            </a:xfrm>
            <a:custGeom>
              <a:avLst/>
              <a:gdLst/>
              <a:ahLst/>
              <a:cxnLst/>
              <a:rect r="r" b="b" t="t" l="l"/>
              <a:pathLst>
                <a:path h="660781" w="867156">
                  <a:moveTo>
                    <a:pt x="0" y="0"/>
                  </a:moveTo>
                  <a:lnTo>
                    <a:pt x="867156" y="0"/>
                  </a:lnTo>
                  <a:lnTo>
                    <a:pt x="867156" y="660781"/>
                  </a:lnTo>
                  <a:lnTo>
                    <a:pt x="0" y="660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615" r="5" b="-1560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876856" y="5875408"/>
            <a:ext cx="2772496" cy="35704"/>
            <a:chOff x="0" y="0"/>
            <a:chExt cx="3696661" cy="4760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96716" cy="47752"/>
            </a:xfrm>
            <a:custGeom>
              <a:avLst/>
              <a:gdLst/>
              <a:ahLst/>
              <a:cxnLst/>
              <a:rect r="r" b="b" t="t" l="l"/>
              <a:pathLst>
                <a:path h="47752" w="3696716">
                  <a:moveTo>
                    <a:pt x="3680714" y="47625"/>
                  </a:moveTo>
                  <a:lnTo>
                    <a:pt x="15748" y="31750"/>
                  </a:lnTo>
                  <a:cubicBezTo>
                    <a:pt x="6985" y="31750"/>
                    <a:pt x="0" y="24638"/>
                    <a:pt x="0" y="15748"/>
                  </a:cubicBezTo>
                  <a:cubicBezTo>
                    <a:pt x="0" y="6858"/>
                    <a:pt x="7239" y="0"/>
                    <a:pt x="16002" y="0"/>
                  </a:cubicBezTo>
                  <a:lnTo>
                    <a:pt x="3680841" y="15875"/>
                  </a:lnTo>
                  <a:cubicBezTo>
                    <a:pt x="3689604" y="15875"/>
                    <a:pt x="3696716" y="23114"/>
                    <a:pt x="3696589" y="31877"/>
                  </a:cubicBezTo>
                  <a:cubicBezTo>
                    <a:pt x="3696462" y="40640"/>
                    <a:pt x="3689350" y="47752"/>
                    <a:pt x="3680587" y="476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3850" y="63677"/>
            <a:ext cx="23816" cy="7435103"/>
            <a:chOff x="0" y="0"/>
            <a:chExt cx="31755" cy="99134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750" cy="9913493"/>
            </a:xfrm>
            <a:custGeom>
              <a:avLst/>
              <a:gdLst/>
              <a:ahLst/>
              <a:cxnLst/>
              <a:rect r="r" b="b" t="t" l="l"/>
              <a:pathLst>
                <a:path h="9913493" w="31750">
                  <a:moveTo>
                    <a:pt x="31750" y="15875"/>
                  </a:moveTo>
                  <a:lnTo>
                    <a:pt x="31750" y="9897618"/>
                  </a:lnTo>
                  <a:cubicBezTo>
                    <a:pt x="31750" y="9906381"/>
                    <a:pt x="24638" y="9913493"/>
                    <a:pt x="15875" y="9913493"/>
                  </a:cubicBezTo>
                  <a:cubicBezTo>
                    <a:pt x="7112" y="9913493"/>
                    <a:pt x="0" y="9906381"/>
                    <a:pt x="0" y="9897618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653217" y="63677"/>
            <a:ext cx="23818" cy="7435415"/>
            <a:chOff x="0" y="0"/>
            <a:chExt cx="31757" cy="99138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750" cy="9913874"/>
            </a:xfrm>
            <a:custGeom>
              <a:avLst/>
              <a:gdLst/>
              <a:ahLst/>
              <a:cxnLst/>
              <a:rect r="r" b="b" t="t" l="l"/>
              <a:pathLst>
                <a:path h="9913874" w="31750">
                  <a:moveTo>
                    <a:pt x="31750" y="15875"/>
                  </a:moveTo>
                  <a:lnTo>
                    <a:pt x="31750" y="9897999"/>
                  </a:lnTo>
                  <a:cubicBezTo>
                    <a:pt x="31750" y="9906762"/>
                    <a:pt x="24638" y="9913874"/>
                    <a:pt x="15875" y="9913874"/>
                  </a:cubicBezTo>
                  <a:cubicBezTo>
                    <a:pt x="7112" y="9913874"/>
                    <a:pt x="0" y="9906762"/>
                    <a:pt x="0" y="9897999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3850" y="63677"/>
            <a:ext cx="10653184" cy="23816"/>
            <a:chOff x="0" y="0"/>
            <a:chExt cx="14204245" cy="3175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4204187" cy="31750"/>
            </a:xfrm>
            <a:custGeom>
              <a:avLst/>
              <a:gdLst/>
              <a:ahLst/>
              <a:cxnLst/>
              <a:rect r="r" b="b" t="t" l="l"/>
              <a:pathLst>
                <a:path h="31750" w="14204187">
                  <a:moveTo>
                    <a:pt x="14188312" y="31750"/>
                  </a:moveTo>
                  <a:lnTo>
                    <a:pt x="15875" y="31750"/>
                  </a:lnTo>
                  <a:cubicBezTo>
                    <a:pt x="7112" y="31750"/>
                    <a:pt x="0" y="24638"/>
                    <a:pt x="0" y="15875"/>
                  </a:cubicBezTo>
                  <a:cubicBezTo>
                    <a:pt x="0" y="7112"/>
                    <a:pt x="7112" y="0"/>
                    <a:pt x="15875" y="0"/>
                  </a:cubicBezTo>
                  <a:lnTo>
                    <a:pt x="14188312" y="0"/>
                  </a:lnTo>
                  <a:cubicBezTo>
                    <a:pt x="14197076" y="0"/>
                    <a:pt x="14204187" y="7112"/>
                    <a:pt x="14204187" y="15875"/>
                  </a:cubicBezTo>
                  <a:cubicBezTo>
                    <a:pt x="14204187" y="24638"/>
                    <a:pt x="14197076" y="31750"/>
                    <a:pt x="14188312" y="317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3850" y="7463388"/>
            <a:ext cx="10653169" cy="35079"/>
            <a:chOff x="0" y="0"/>
            <a:chExt cx="14204225" cy="467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204187" cy="46736"/>
            </a:xfrm>
            <a:custGeom>
              <a:avLst/>
              <a:gdLst/>
              <a:ahLst/>
              <a:cxnLst/>
              <a:rect r="r" b="b" t="t" l="l"/>
              <a:pathLst>
                <a:path h="46736" w="14204187">
                  <a:moveTo>
                    <a:pt x="14188312" y="31750"/>
                  </a:moveTo>
                  <a:lnTo>
                    <a:pt x="15875" y="46736"/>
                  </a:lnTo>
                  <a:cubicBezTo>
                    <a:pt x="7112" y="46736"/>
                    <a:pt x="0" y="39624"/>
                    <a:pt x="0" y="30861"/>
                  </a:cubicBezTo>
                  <a:cubicBezTo>
                    <a:pt x="0" y="22098"/>
                    <a:pt x="7112" y="14986"/>
                    <a:pt x="15875" y="14986"/>
                  </a:cubicBezTo>
                  <a:lnTo>
                    <a:pt x="14188312" y="0"/>
                  </a:lnTo>
                  <a:cubicBezTo>
                    <a:pt x="14197076" y="0"/>
                    <a:pt x="14204187" y="7112"/>
                    <a:pt x="14204187" y="15875"/>
                  </a:cubicBezTo>
                  <a:cubicBezTo>
                    <a:pt x="14204187" y="24638"/>
                    <a:pt x="14197076" y="31750"/>
                    <a:pt x="14188312" y="317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876908" y="4170984"/>
            <a:ext cx="2772496" cy="35704"/>
            <a:chOff x="0" y="0"/>
            <a:chExt cx="3696661" cy="476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96716" cy="47752"/>
            </a:xfrm>
            <a:custGeom>
              <a:avLst/>
              <a:gdLst/>
              <a:ahLst/>
              <a:cxnLst/>
              <a:rect r="r" b="b" t="t" l="l"/>
              <a:pathLst>
                <a:path h="47752" w="3696716">
                  <a:moveTo>
                    <a:pt x="3680714" y="47625"/>
                  </a:moveTo>
                  <a:lnTo>
                    <a:pt x="15748" y="31750"/>
                  </a:lnTo>
                  <a:cubicBezTo>
                    <a:pt x="6985" y="31750"/>
                    <a:pt x="0" y="24638"/>
                    <a:pt x="0" y="15748"/>
                  </a:cubicBezTo>
                  <a:cubicBezTo>
                    <a:pt x="0" y="6858"/>
                    <a:pt x="7239" y="0"/>
                    <a:pt x="16002" y="0"/>
                  </a:cubicBezTo>
                  <a:lnTo>
                    <a:pt x="3680841" y="15875"/>
                  </a:lnTo>
                  <a:cubicBezTo>
                    <a:pt x="3689604" y="15875"/>
                    <a:pt x="3696716" y="23114"/>
                    <a:pt x="3696589" y="31877"/>
                  </a:cubicBezTo>
                  <a:cubicBezTo>
                    <a:pt x="3696462" y="40640"/>
                    <a:pt x="3689350" y="47752"/>
                    <a:pt x="3680587" y="4762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881250" y="63677"/>
            <a:ext cx="23816" cy="4170673"/>
            <a:chOff x="0" y="0"/>
            <a:chExt cx="31755" cy="55608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750" cy="5560949"/>
            </a:xfrm>
            <a:custGeom>
              <a:avLst/>
              <a:gdLst/>
              <a:ahLst/>
              <a:cxnLst/>
              <a:rect r="r" b="b" t="t" l="l"/>
              <a:pathLst>
                <a:path h="5560949" w="31750">
                  <a:moveTo>
                    <a:pt x="31750" y="15875"/>
                  </a:moveTo>
                  <a:lnTo>
                    <a:pt x="31750" y="5545074"/>
                  </a:lnTo>
                  <a:cubicBezTo>
                    <a:pt x="31750" y="5553837"/>
                    <a:pt x="24638" y="5560949"/>
                    <a:pt x="15875" y="5560949"/>
                  </a:cubicBezTo>
                  <a:cubicBezTo>
                    <a:pt x="7112" y="5560949"/>
                    <a:pt x="0" y="5553837"/>
                    <a:pt x="0" y="5545074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cubicBezTo>
                    <a:pt x="24638" y="0"/>
                    <a:pt x="31750" y="7112"/>
                    <a:pt x="31750" y="1587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5421412" y="4567375"/>
            <a:ext cx="2412748" cy="1608499"/>
          </a:xfrm>
          <a:custGeom>
            <a:avLst/>
            <a:gdLst/>
            <a:ahLst/>
            <a:cxnLst/>
            <a:rect r="r" b="b" t="t" l="l"/>
            <a:pathLst>
              <a:path h="1608499" w="2412748">
                <a:moveTo>
                  <a:pt x="0" y="0"/>
                </a:moveTo>
                <a:lnTo>
                  <a:pt x="2412748" y="0"/>
                </a:lnTo>
                <a:lnTo>
                  <a:pt x="2412748" y="1608499"/>
                </a:lnTo>
                <a:lnTo>
                  <a:pt x="0" y="16084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6004303" y="6252074"/>
            <a:ext cx="1246965" cy="1154482"/>
          </a:xfrm>
          <a:custGeom>
            <a:avLst/>
            <a:gdLst/>
            <a:ahLst/>
            <a:cxnLst/>
            <a:rect r="r" b="b" t="t" l="l"/>
            <a:pathLst>
              <a:path h="1154482" w="1246965">
                <a:moveTo>
                  <a:pt x="0" y="0"/>
                </a:moveTo>
                <a:lnTo>
                  <a:pt x="1246965" y="0"/>
                </a:lnTo>
                <a:lnTo>
                  <a:pt x="1246965" y="1154482"/>
                </a:lnTo>
                <a:lnTo>
                  <a:pt x="0" y="11544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945833" y="2065908"/>
            <a:ext cx="2666617" cy="1664548"/>
          </a:xfrm>
          <a:custGeom>
            <a:avLst/>
            <a:gdLst/>
            <a:ahLst/>
            <a:cxnLst/>
            <a:rect r="r" b="b" t="t" l="l"/>
            <a:pathLst>
              <a:path h="1664548" w="2666617">
                <a:moveTo>
                  <a:pt x="0" y="0"/>
                </a:moveTo>
                <a:lnTo>
                  <a:pt x="2666617" y="0"/>
                </a:lnTo>
                <a:lnTo>
                  <a:pt x="2666617" y="1664548"/>
                </a:lnTo>
                <a:lnTo>
                  <a:pt x="0" y="16645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677100" y="5676007"/>
            <a:ext cx="1348126" cy="1348126"/>
          </a:xfrm>
          <a:custGeom>
            <a:avLst/>
            <a:gdLst/>
            <a:ahLst/>
            <a:cxnLst/>
            <a:rect r="r" b="b" t="t" l="l"/>
            <a:pathLst>
              <a:path h="1348126" w="1348126">
                <a:moveTo>
                  <a:pt x="0" y="0"/>
                </a:moveTo>
                <a:lnTo>
                  <a:pt x="1348126" y="0"/>
                </a:lnTo>
                <a:lnTo>
                  <a:pt x="1348126" y="1348126"/>
                </a:lnTo>
                <a:lnTo>
                  <a:pt x="0" y="13481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2930788" y="2046858"/>
            <a:ext cx="2343411" cy="461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Components/Algorithms/Tech Stack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479037" y="2165867"/>
            <a:ext cx="2261904" cy="223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8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Applications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50537" y="4237697"/>
            <a:ext cx="2309456" cy="24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295499" y="5952930"/>
            <a:ext cx="1935313" cy="22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734986" y="4623712"/>
            <a:ext cx="2405434" cy="2564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91473" indent="-130491" lvl="2">
              <a:lnSpc>
                <a:spcPts val="1368"/>
              </a:lnSpc>
              <a:buFont typeface="Arial"/>
              <a:buChar char="⚬"/>
            </a:pPr>
            <a:r>
              <a:rPr lang="en-US" b="true" sz="9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9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nput: User uploads imag</a:t>
            </a:r>
            <a:r>
              <a:rPr lang="en-US" b="true" sz="9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e/video.</a:t>
            </a:r>
          </a:p>
          <a:p>
            <a:pPr algn="just" marL="391473" indent="-130491" lvl="2">
              <a:lnSpc>
                <a:spcPts val="1368"/>
              </a:lnSpc>
              <a:buFont typeface="Arial"/>
              <a:buChar char="⚬"/>
            </a:pPr>
            <a:r>
              <a:rPr lang="en-US" b="true" sz="9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Pre-processing: Frames and audio extracted.</a:t>
            </a:r>
          </a:p>
          <a:p>
            <a:pPr algn="just" marL="391473" indent="-130491" lvl="2">
              <a:lnSpc>
                <a:spcPts val="1368"/>
              </a:lnSpc>
              <a:buFont typeface="Arial"/>
              <a:buChar char="⚬"/>
            </a:pPr>
            <a:r>
              <a:rPr lang="en-US" b="true" sz="9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Heuristic Analysis: Laplacian sharpness and edge detection for blur/fake evidence.</a:t>
            </a:r>
          </a:p>
          <a:p>
            <a:pPr algn="just" marL="391473" indent="-130491" lvl="2">
              <a:lnSpc>
                <a:spcPts val="1368"/>
              </a:lnSpc>
              <a:buFont typeface="Arial"/>
              <a:buChar char="⚬"/>
            </a:pPr>
            <a:r>
              <a:rPr lang="en-US" b="true" sz="9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Deep Model: Transformer-based video encoder with audio features.</a:t>
            </a:r>
          </a:p>
          <a:p>
            <a:pPr algn="just" marL="391473" indent="-130491" lvl="2">
              <a:lnSpc>
                <a:spcPts val="1368"/>
              </a:lnSpc>
              <a:buFont typeface="Arial"/>
              <a:buChar char="⚬"/>
            </a:pPr>
            <a:r>
              <a:rPr lang="en-US" b="true" sz="9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Explainability: Grad-CAM overlays, lip-sync checks, A/V sync correlation.</a:t>
            </a:r>
          </a:p>
          <a:p>
            <a:pPr algn="just" marL="391473" indent="-130491" lvl="2">
              <a:lnSpc>
                <a:spcPts val="1368"/>
              </a:lnSpc>
              <a:buFont typeface="Arial"/>
              <a:buChar char="⚬"/>
            </a:pPr>
            <a:r>
              <a:rPr lang="en-US" b="true" sz="906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Output: Fake/Real classification with confidence score and visual evidence.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108376" y="394900"/>
            <a:ext cx="2309456" cy="24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2964743" y="4257894"/>
            <a:ext cx="2309456" cy="222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Methodology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387979" y="4247276"/>
            <a:ext cx="2444019" cy="21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4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Flowchart/Block diagram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96435" y="445387"/>
            <a:ext cx="2309456" cy="24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2"/>
              </a:lnSpc>
            </a:pPr>
            <a:r>
              <a:rPr lang="en-US" sz="1350" b="true">
                <a:solidFill>
                  <a:srgbClr val="604A7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3433" y="777408"/>
            <a:ext cx="2383904" cy="4665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50"/>
              </a:lnSpc>
            </a:pPr>
            <a:r>
              <a:rPr lang="en-US" b="true" sz="86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rapid growth of AI-generated synthetic media has created opportunities for misuse in social media, politics, and entertainment. </a:t>
            </a:r>
            <a:r>
              <a:rPr lang="en-US" b="true" sz="865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Traditional detection methods fail to adapt quickly to evolving deepfake techniques. A reliable and explainable detection platform is necessary to restore trust in digital media. Our project focuses on building a robust system that not only detects fakes but also provides explainable evidence to support decision-making. We target low-latency, high-accuracy inference for images and short videos, with robustness to compression, scaling, noise, and mild motion blur. Ensure privacy, security, and reproducibility with versioned models, hashed inputs/outputs, encrypted storage, and detailed audit logs. The platform is modular and extensible to new detectors/modalities, supports local and cloud deployment with authentication and rate limiting, and includes continuous evaluation for drift, fairness, and bias across demographics, with transparent documentation of limitations.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799640" y="2655678"/>
            <a:ext cx="2440789" cy="1545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88"/>
              </a:lnSpc>
            </a:pPr>
            <a:r>
              <a:rPr lang="en-US" b="true" sz="70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Datasets: FaceForensics++, DFDC with heavy augmentations (scaling, compression).</a:t>
            </a:r>
          </a:p>
          <a:p>
            <a:pPr algn="just">
              <a:lnSpc>
                <a:spcPts val="988"/>
              </a:lnSpc>
            </a:pPr>
            <a:r>
              <a:rPr lang="en-US" b="true" sz="70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Backend: Python, PyTorch, OpenCV, librosa, MediaPipe.</a:t>
            </a:r>
          </a:p>
          <a:p>
            <a:pPr algn="just">
              <a:lnSpc>
                <a:spcPts val="988"/>
              </a:lnSpc>
            </a:pPr>
            <a:r>
              <a:rPr lang="en-US" b="true" sz="70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Modeling: Transformer-based video encoder + audio branch; Grad-CAM for visual explanations.</a:t>
            </a:r>
          </a:p>
          <a:p>
            <a:pPr algn="just">
              <a:lnSpc>
                <a:spcPts val="988"/>
              </a:lnSpc>
            </a:pPr>
            <a:r>
              <a:rPr lang="en-US" b="true" sz="70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Frontend: HTML, CSS, JavaScript with a user-friendly UI.</a:t>
            </a:r>
          </a:p>
          <a:p>
            <a:pPr algn="just">
              <a:lnSpc>
                <a:spcPts val="988"/>
              </a:lnSpc>
            </a:pPr>
            <a:r>
              <a:rPr lang="en-US" b="true" sz="70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Deployment: Docker, Docker Compose, AWS cloud integration.</a:t>
            </a:r>
          </a:p>
          <a:p>
            <a:pPr algn="just">
              <a:lnSpc>
                <a:spcPts val="988"/>
              </a:lnSpc>
            </a:pPr>
            <a:r>
              <a:rPr lang="en-US" b="true" sz="70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Explainability Tools: Grad-CAM, Laplacian heatmaps, A/V synchronization metrics.</a:t>
            </a:r>
          </a:p>
          <a:p>
            <a:pPr algn="just" marL="118611" indent="-39537" lvl="2">
              <a:lnSpc>
                <a:spcPts val="988"/>
              </a:lnSpc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5387979" y="2658141"/>
            <a:ext cx="2411610" cy="1457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09630" indent="-36543" lvl="2">
              <a:lnSpc>
                <a:spcPts val="874"/>
              </a:lnSpc>
              <a:buFont typeface="Arial"/>
              <a:buChar char="⚬"/>
            </a:pPr>
            <a:r>
              <a:rPr lang="en-US" b="true" sz="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b="true" sz="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overnment &amp; Law Enforcement: Verify authenticity of video evidence.</a:t>
            </a:r>
          </a:p>
          <a:p>
            <a:pPr algn="just" marL="109689" indent="-36563" lvl="2">
              <a:lnSpc>
                <a:spcPts val="874"/>
              </a:lnSpc>
              <a:buFont typeface="Arial"/>
              <a:buChar char="⚬"/>
            </a:pPr>
            <a:r>
              <a:rPr lang="en-US" b="true" sz="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News &amp; Media Organizations: Fact-check viral content to prevent misinformation.</a:t>
            </a:r>
          </a:p>
          <a:p>
            <a:pPr algn="just" marL="109630" indent="-36543" lvl="2">
              <a:lnSpc>
                <a:spcPts val="874"/>
              </a:lnSpc>
              <a:buFont typeface="Arial"/>
              <a:buChar char="⚬"/>
            </a:pPr>
            <a:r>
              <a:rPr lang="en-US" b="true" sz="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Social Media Platforms: Integrate detection as part of content moderation systems.</a:t>
            </a:r>
          </a:p>
          <a:p>
            <a:pPr algn="just" marL="109630" indent="-36543" lvl="2">
              <a:lnSpc>
                <a:spcPts val="874"/>
              </a:lnSpc>
              <a:buFont typeface="Arial"/>
              <a:buChar char="⚬"/>
            </a:pPr>
            <a:r>
              <a:rPr lang="en-US" b="true" sz="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Education: Raise awareness about deepfake threats and safe digital practices.</a:t>
            </a:r>
          </a:p>
          <a:p>
            <a:pPr algn="just" marL="109689" indent="-36563" lvl="2">
              <a:lnSpc>
                <a:spcPts val="874"/>
              </a:lnSpc>
              <a:buFont typeface="Arial"/>
              <a:buChar char="⚬"/>
            </a:pPr>
            <a:r>
              <a:rPr lang="en-US" b="true" sz="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Commercial Use: Entertainment industry for authenticity checks, preventing misuse of celebrity likeness.</a:t>
            </a:r>
          </a:p>
          <a:p>
            <a:pPr algn="just" marL="109689" indent="-36563" lvl="2">
              <a:lnSpc>
                <a:spcPts val="874"/>
              </a:lnSpc>
              <a:buFont typeface="Arial"/>
              <a:buChar char="⚬"/>
            </a:pPr>
            <a:r>
              <a:rPr lang="en-US" b="true" sz="7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Public Safety: Protect individuals from identity theft, harassment, and reputational damage.</a:t>
            </a:r>
          </a:p>
          <a:p>
            <a:pPr algn="l" marL="109689" indent="-36563" lvl="2">
              <a:lnSpc>
                <a:spcPts val="874"/>
              </a:lnSpc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8041725" y="1113408"/>
            <a:ext cx="247483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08" indent="-27154" lvl="1">
              <a:lnSpc>
                <a:spcPts val="1080"/>
              </a:lnSpc>
            </a:pPr>
            <a:r>
              <a:rPr lang="en-US" b="true" sz="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</a:t>
            </a:r>
            <a:r>
              <a:rPr lang="en-US" b="true" sz="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tputs: de</a:t>
            </a:r>
            <a:r>
              <a:rPr lang="en-US" b="true" sz="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epfake probabili</a:t>
            </a:r>
            <a:r>
              <a:rPr lang="en-US" b="true" sz="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ty/labels, per-method scores, Grad-CAM overlays, optional region heatmaps.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045690" y="4745989"/>
            <a:ext cx="2466904" cy="80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58"/>
              </a:lnSpc>
            </a:pPr>
            <a:r>
              <a:rPr lang="en-US" b="true" sz="1058" spc="4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system couples explainable deepfake detection with a simple UI and cloud stack, enabling trustworthy assessments, reproducible artifacts, and streamlined operations.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962216" y="6187727"/>
            <a:ext cx="2605621" cy="125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0"/>
              </a:lnSpc>
            </a:pPr>
            <a:r>
              <a:rPr lang="en-US" sz="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Grad-CAM: Selvaraju e</a:t>
            </a:r>
            <a:r>
              <a:rPr lang="en-US" sz="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 al., 2017, https://arxiv.org/abs/1610.02391</a:t>
            </a:r>
          </a:p>
          <a:p>
            <a:pPr algn="just">
              <a:lnSpc>
                <a:spcPts val="840"/>
              </a:lnSpc>
            </a:pPr>
            <a:r>
              <a:rPr lang="en-US" sz="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FaceForensics++ — Rössler et al., 2019. Benchmark for facial manipulation detection. https://arxiv.org/abs/1901.08971</a:t>
            </a:r>
          </a:p>
          <a:p>
            <a:pPr algn="just">
              <a:lnSpc>
                <a:spcPts val="840"/>
              </a:lnSpc>
            </a:pPr>
            <a:r>
              <a:rPr lang="en-US" sz="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DFDC Dataset — Dolhansky et al., 2020. Large-scale face-swap dataset. https://arxiv.org/abs/2006.07397</a:t>
            </a:r>
          </a:p>
          <a:p>
            <a:pPr algn="just">
              <a:lnSpc>
                <a:spcPts val="840"/>
              </a:lnSpc>
            </a:pPr>
            <a:r>
              <a:rPr lang="en-US" sz="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[1] A. K. Singh, "Deep Learning for Deepfake Detection," Springer, pp. 1-300, 2022. </a:t>
            </a:r>
          </a:p>
          <a:p>
            <a:pPr algn="just">
              <a:lnSpc>
                <a:spcPts val="840"/>
              </a:lnSpc>
            </a:pPr>
            <a:r>
              <a:rPr lang="en-US" sz="7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Selvaraju et al., 2016/2019. Visual explanations for deep nets. https://arxiv.org/abs/1610.02391</a:t>
            </a:r>
          </a:p>
          <a:p>
            <a:pPr algn="l">
              <a:lnSpc>
                <a:spcPts val="840"/>
              </a:lnSpc>
            </a:pPr>
          </a:p>
        </p:txBody>
      </p:sp>
      <p:sp>
        <p:nvSpPr>
          <p:cNvPr name="TextBox 64" id="64"/>
          <p:cNvSpPr txBox="true"/>
          <p:nvPr/>
        </p:nvSpPr>
        <p:spPr>
          <a:xfrm rot="0">
            <a:off x="3081643" y="691422"/>
            <a:ext cx="4647886" cy="191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4"/>
              </a:lnSpc>
            </a:pPr>
            <a:r>
              <a:rPr lang="en-US" b="true" sz="1160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</a:t>
            </a:r>
            <a:r>
              <a:rPr lang="en-US" b="true" sz="1160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ARTMENT OF ARTIFICIAL INTELLIGENCE AND DATA SCIENCE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641487" y="975939"/>
            <a:ext cx="3391570" cy="29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4"/>
              </a:lnSpc>
            </a:pPr>
            <a:r>
              <a:rPr lang="en-US" b="true" sz="896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Gui</a:t>
            </a:r>
            <a:r>
              <a:rPr lang="en-US" b="true" sz="896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de: Assistant Prof. Diksha Bharawa</a:t>
            </a:r>
          </a:p>
          <a:p>
            <a:pPr algn="ctr">
              <a:lnSpc>
                <a:spcPts val="1254"/>
              </a:lnSpc>
            </a:pPr>
            <a:r>
              <a:rPr lang="en-US" b="true" sz="896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Students: Yash, Chetan, Aman, Shashank, Vanisha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869451" y="1332953"/>
            <a:ext cx="4941990" cy="44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6"/>
              </a:lnSpc>
            </a:pPr>
            <a:r>
              <a:rPr lang="en-US" b="true" sz="2583">
                <a:solidFill>
                  <a:srgbClr val="1E3D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DEEPFAKE ANALYZER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DAG0JS3OTkw</dc:identifier>
  <dcterms:modified xsi:type="dcterms:W3CDTF">2011-08-01T06:04:30Z</dcterms:modified>
  <cp:revision>1</cp:revision>
  <dc:title>ProjectPoster_2025-26_AD_VII-05_TeamLeader.pptx</dc:title>
</cp:coreProperties>
</file>